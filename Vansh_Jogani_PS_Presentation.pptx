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1B305C"/>
          </a:solidFill>
          <a:ln/>
        </p:spPr>
      </p:sp>
      <p:pic>
        <p:nvPicPr>
          <p:cNvPr id="3" name="Image 0" descr="title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011680"/>
            <a:ext cx="12191695" cy="1280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384048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MANIPAL INSTITUTE OF TECHNOLOGY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457200" y="786384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CF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 constituent unit of MAHE, Manipal)  ·  School of Computer Engineering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457200" y="1298448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B.Tech. Practice School — Final Project Presentation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1051560" y="2514600"/>
            <a:ext cx="10058400" cy="1554480"/>
          </a:xfrm>
          <a:prstGeom prst="roundRect">
            <a:avLst>
              <a:gd name="adj" fmla="val 3529"/>
            </a:avLst>
          </a:prstGeom>
          <a:solidFill>
            <a:srgbClr val="EAF1FB"/>
          </a:solidFill>
          <a:ln w="12700">
            <a:solidFill>
              <a:srgbClr val="3E6DB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280160" y="2651760"/>
            <a:ext cx="9601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1F3B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Enterprise-Scale Intelligent PDF Parsing and Structured Data Extraction System for Pharmaceutical Research Documents using AWS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051560" y="425196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Vansh Amit Jogani</a:t>
            </a:r>
            <a:endParaRPr lang="en-US" sz="17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220953126  ·  Computer and Communication Engineering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051560" y="5029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guidance of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1737360" y="5349240"/>
            <a:ext cx="4114800" cy="960120"/>
          </a:xfrm>
          <a:prstGeom prst="roundRect">
            <a:avLst>
              <a:gd name="adj" fmla="val 5714"/>
            </a:avLst>
          </a:prstGeom>
          <a:solidFill>
            <a:srgbClr val="F3F7FC"/>
          </a:solidFill>
          <a:ln w="12700">
            <a:solidFill>
              <a:srgbClr val="C7D5E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874520" y="544068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E6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Guide</a:t>
            </a:r>
            <a:endParaRPr lang="en-US" sz="105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Ms. Chithra K</a:t>
            </a:r>
            <a:endParaRPr lang="en-US" sz="105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Asst. Professor, SCE, MIT Manipal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309360" y="5349240"/>
            <a:ext cx="4114800" cy="960120"/>
          </a:xfrm>
          <a:prstGeom prst="roundRect">
            <a:avLst>
              <a:gd name="adj" fmla="val 5714"/>
            </a:avLst>
          </a:prstGeom>
          <a:solidFill>
            <a:srgbClr val="F3F7FC"/>
          </a:solidFill>
          <a:ln w="12700">
            <a:solidFill>
              <a:srgbClr val="C7D5E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46520" y="544068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E6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Guide</a:t>
            </a:r>
            <a:endParaRPr lang="en-US" sz="105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Neha Agrawal</a:t>
            </a:r>
            <a:endParaRPr lang="en-US" sz="105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– Data Delivery, Eli Lilly</a:t>
            </a:r>
            <a:endParaRPr lang="en-US" sz="1050" dirty="0"/>
          </a:p>
        </p:txBody>
      </p:sp>
      <p:pic>
        <p:nvPicPr>
          <p:cNvPr id="15" name="Image 1" descr="cre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5257800"/>
            <a:ext cx="960120" cy="11430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57200" y="6419088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itle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8412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91440"/>
            <a:ext cx="10424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Presentation Outline</a:t>
            </a:r>
            <a:endParaRPr lang="en-US" sz="2300" dirty="0"/>
          </a:p>
        </p:txBody>
      </p:sp>
      <p:pic>
        <p:nvPicPr>
          <p:cNvPr id="4" name="Image 1" descr="footerb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55664"/>
            <a:ext cx="12191695" cy="40233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20040" y="6455664"/>
            <a:ext cx="5486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Computer Engineering</a:t>
            </a:r>
            <a:endParaRPr lang="en-US" sz="1050" dirty="0"/>
          </a:p>
        </p:txBody>
      </p:sp>
      <p:sp>
        <p:nvSpPr>
          <p:cNvPr id="6" name="Text 2"/>
          <p:cNvSpPr/>
          <p:nvPr/>
        </p:nvSpPr>
        <p:spPr>
          <a:xfrm>
            <a:off x="10637215" y="6455664"/>
            <a:ext cx="1234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30</a:t>
            </a:r>
            <a:endParaRPr lang="en-US" sz="1050" dirty="0"/>
          </a:p>
        </p:txBody>
      </p:sp>
      <p:pic>
        <p:nvPicPr>
          <p:cNvPr id="7" name="Image 2" descr="cres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8463" y="5852160"/>
            <a:ext cx="457200" cy="54864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85800" y="1280160"/>
            <a:ext cx="5257800" cy="841248"/>
          </a:xfrm>
          <a:prstGeom prst="roundRect">
            <a:avLst>
              <a:gd name="adj" fmla="val 6522"/>
            </a:avLst>
          </a:prstGeom>
          <a:solidFill>
            <a:srgbClr val="F3F7FC"/>
          </a:solidFill>
          <a:ln w="12700">
            <a:solidFill>
              <a:srgbClr val="C7D5EC"/>
            </a:solidFill>
            <a:prstDash val="solid"/>
          </a:ln>
        </p:spPr>
      </p:sp>
      <p:sp>
        <p:nvSpPr>
          <p:cNvPr id="9" name="Shape 4"/>
          <p:cNvSpPr/>
          <p:nvPr/>
        </p:nvSpPr>
        <p:spPr>
          <a:xfrm>
            <a:off x="886968" y="1499616"/>
            <a:ext cx="402336" cy="402336"/>
          </a:xfrm>
          <a:prstGeom prst="ellipse">
            <a:avLst/>
          </a:prstGeom>
          <a:solidFill>
            <a:srgbClr val="1F3B73"/>
          </a:solidFill>
          <a:ln/>
        </p:spPr>
      </p:sp>
      <p:sp>
        <p:nvSpPr>
          <p:cNvPr id="10" name="Text 5"/>
          <p:cNvSpPr/>
          <p:nvPr/>
        </p:nvSpPr>
        <p:spPr>
          <a:xfrm>
            <a:off x="886968" y="149961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6"/>
          <p:cNvSpPr/>
          <p:nvPr/>
        </p:nvSpPr>
        <p:spPr>
          <a:xfrm>
            <a:off x="1463040" y="1280160"/>
            <a:ext cx="43434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2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1550" dirty="0"/>
          </a:p>
        </p:txBody>
      </p:sp>
      <p:sp>
        <p:nvSpPr>
          <p:cNvPr id="12" name="Shape 7"/>
          <p:cNvSpPr/>
          <p:nvPr/>
        </p:nvSpPr>
        <p:spPr>
          <a:xfrm>
            <a:off x="685800" y="2249424"/>
            <a:ext cx="5257800" cy="841248"/>
          </a:xfrm>
          <a:prstGeom prst="roundRect">
            <a:avLst>
              <a:gd name="adj" fmla="val 6522"/>
            </a:avLst>
          </a:prstGeom>
          <a:solidFill>
            <a:srgbClr val="F3F7FC"/>
          </a:solidFill>
          <a:ln w="12700">
            <a:solidFill>
              <a:srgbClr val="C7D5EC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886968" y="2468880"/>
            <a:ext cx="402336" cy="402336"/>
          </a:xfrm>
          <a:prstGeom prst="ellipse">
            <a:avLst/>
          </a:prstGeom>
          <a:solidFill>
            <a:srgbClr val="1F3B73"/>
          </a:solidFill>
          <a:ln/>
        </p:spPr>
      </p:sp>
      <p:sp>
        <p:nvSpPr>
          <p:cNvPr id="14" name="Text 9"/>
          <p:cNvSpPr/>
          <p:nvPr/>
        </p:nvSpPr>
        <p:spPr>
          <a:xfrm>
            <a:off x="886968" y="246888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463040" y="2249424"/>
            <a:ext cx="43434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2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Survey &amp; Background</a:t>
            </a:r>
            <a:endParaRPr lang="en-US" sz="1550" dirty="0"/>
          </a:p>
        </p:txBody>
      </p:sp>
      <p:sp>
        <p:nvSpPr>
          <p:cNvPr id="16" name="Shape 11"/>
          <p:cNvSpPr/>
          <p:nvPr/>
        </p:nvSpPr>
        <p:spPr>
          <a:xfrm>
            <a:off x="685800" y="3218688"/>
            <a:ext cx="5257800" cy="841248"/>
          </a:xfrm>
          <a:prstGeom prst="roundRect">
            <a:avLst>
              <a:gd name="adj" fmla="val 6522"/>
            </a:avLst>
          </a:prstGeom>
          <a:solidFill>
            <a:srgbClr val="F3F7FC"/>
          </a:solidFill>
          <a:ln w="12700">
            <a:solidFill>
              <a:srgbClr val="C7D5EC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86968" y="3438144"/>
            <a:ext cx="402336" cy="402336"/>
          </a:xfrm>
          <a:prstGeom prst="ellipse">
            <a:avLst/>
          </a:prstGeom>
          <a:solidFill>
            <a:srgbClr val="1F3B73"/>
          </a:solidFill>
          <a:ln/>
        </p:spPr>
      </p:sp>
      <p:sp>
        <p:nvSpPr>
          <p:cNvPr id="18" name="Text 13"/>
          <p:cNvSpPr/>
          <p:nvPr/>
        </p:nvSpPr>
        <p:spPr>
          <a:xfrm>
            <a:off x="886968" y="343814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1463040" y="3218688"/>
            <a:ext cx="43434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2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Technologies</a:t>
            </a:r>
            <a:endParaRPr lang="en-US" sz="1550" dirty="0"/>
          </a:p>
        </p:txBody>
      </p:sp>
      <p:sp>
        <p:nvSpPr>
          <p:cNvPr id="20" name="Shape 15"/>
          <p:cNvSpPr/>
          <p:nvPr/>
        </p:nvSpPr>
        <p:spPr>
          <a:xfrm>
            <a:off x="685800" y="4187952"/>
            <a:ext cx="5257800" cy="841248"/>
          </a:xfrm>
          <a:prstGeom prst="roundRect">
            <a:avLst>
              <a:gd name="adj" fmla="val 6522"/>
            </a:avLst>
          </a:prstGeom>
          <a:solidFill>
            <a:srgbClr val="F3F7FC"/>
          </a:solidFill>
          <a:ln w="12700">
            <a:solidFill>
              <a:srgbClr val="C7D5EC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886968" y="4407408"/>
            <a:ext cx="402336" cy="402336"/>
          </a:xfrm>
          <a:prstGeom prst="ellipse">
            <a:avLst/>
          </a:prstGeom>
          <a:solidFill>
            <a:srgbClr val="1F3B73"/>
          </a:solidFill>
          <a:ln/>
        </p:spPr>
      </p:sp>
      <p:sp>
        <p:nvSpPr>
          <p:cNvPr id="22" name="Text 17"/>
          <p:cNvSpPr/>
          <p:nvPr/>
        </p:nvSpPr>
        <p:spPr>
          <a:xfrm>
            <a:off x="886968" y="440740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1463040" y="4187952"/>
            <a:ext cx="43434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2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Definition</a:t>
            </a:r>
            <a:endParaRPr lang="en-US" sz="1550" dirty="0"/>
          </a:p>
        </p:txBody>
      </p:sp>
      <p:sp>
        <p:nvSpPr>
          <p:cNvPr id="24" name="Shape 19"/>
          <p:cNvSpPr/>
          <p:nvPr/>
        </p:nvSpPr>
        <p:spPr>
          <a:xfrm>
            <a:off x="685800" y="5157216"/>
            <a:ext cx="5257800" cy="841248"/>
          </a:xfrm>
          <a:prstGeom prst="roundRect">
            <a:avLst>
              <a:gd name="adj" fmla="val 6522"/>
            </a:avLst>
          </a:prstGeom>
          <a:solidFill>
            <a:srgbClr val="F3F7FC"/>
          </a:solidFill>
          <a:ln w="12700">
            <a:solidFill>
              <a:srgbClr val="C7D5EC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886968" y="5376672"/>
            <a:ext cx="402336" cy="402336"/>
          </a:xfrm>
          <a:prstGeom prst="ellipse">
            <a:avLst/>
          </a:prstGeom>
          <a:solidFill>
            <a:srgbClr val="1F3B73"/>
          </a:solidFill>
          <a:ln/>
        </p:spPr>
      </p:sp>
      <p:sp>
        <p:nvSpPr>
          <p:cNvPr id="26" name="Text 21"/>
          <p:cNvSpPr/>
          <p:nvPr/>
        </p:nvSpPr>
        <p:spPr>
          <a:xfrm>
            <a:off x="886968" y="53766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2"/>
          <p:cNvSpPr/>
          <p:nvPr/>
        </p:nvSpPr>
        <p:spPr>
          <a:xfrm>
            <a:off x="1463040" y="5157216"/>
            <a:ext cx="43434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2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1550" dirty="0"/>
          </a:p>
        </p:txBody>
      </p:sp>
      <p:sp>
        <p:nvSpPr>
          <p:cNvPr id="28" name="Shape 23"/>
          <p:cNvSpPr/>
          <p:nvPr/>
        </p:nvSpPr>
        <p:spPr>
          <a:xfrm>
            <a:off x="6492240" y="1280160"/>
            <a:ext cx="5257800" cy="841248"/>
          </a:xfrm>
          <a:prstGeom prst="roundRect">
            <a:avLst>
              <a:gd name="adj" fmla="val 6522"/>
            </a:avLst>
          </a:prstGeom>
          <a:solidFill>
            <a:srgbClr val="F3F7FC"/>
          </a:solidFill>
          <a:ln w="12700">
            <a:solidFill>
              <a:srgbClr val="C7D5EC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6693408" y="1499616"/>
            <a:ext cx="402336" cy="402336"/>
          </a:xfrm>
          <a:prstGeom prst="ellipse">
            <a:avLst/>
          </a:prstGeom>
          <a:solidFill>
            <a:srgbClr val="1F3B73"/>
          </a:solidFill>
          <a:ln/>
        </p:spPr>
      </p:sp>
      <p:sp>
        <p:nvSpPr>
          <p:cNvPr id="30" name="Text 25"/>
          <p:cNvSpPr/>
          <p:nvPr/>
        </p:nvSpPr>
        <p:spPr>
          <a:xfrm>
            <a:off x="6693408" y="149961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31" name="Text 26"/>
          <p:cNvSpPr/>
          <p:nvPr/>
        </p:nvSpPr>
        <p:spPr>
          <a:xfrm>
            <a:off x="7269480" y="1280160"/>
            <a:ext cx="43434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2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&amp; Architecture</a:t>
            </a:r>
            <a:endParaRPr lang="en-US" sz="1550" dirty="0"/>
          </a:p>
        </p:txBody>
      </p:sp>
      <p:sp>
        <p:nvSpPr>
          <p:cNvPr id="32" name="Shape 27"/>
          <p:cNvSpPr/>
          <p:nvPr/>
        </p:nvSpPr>
        <p:spPr>
          <a:xfrm>
            <a:off x="6492240" y="2249424"/>
            <a:ext cx="5257800" cy="841248"/>
          </a:xfrm>
          <a:prstGeom prst="roundRect">
            <a:avLst>
              <a:gd name="adj" fmla="val 6522"/>
            </a:avLst>
          </a:prstGeom>
          <a:solidFill>
            <a:srgbClr val="F3F7FC"/>
          </a:solidFill>
          <a:ln w="12700">
            <a:solidFill>
              <a:srgbClr val="C7D5EC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6693408" y="2468880"/>
            <a:ext cx="402336" cy="402336"/>
          </a:xfrm>
          <a:prstGeom prst="ellipse">
            <a:avLst/>
          </a:prstGeom>
          <a:solidFill>
            <a:srgbClr val="1F3B73"/>
          </a:solidFill>
          <a:ln/>
        </p:spPr>
      </p:sp>
      <p:sp>
        <p:nvSpPr>
          <p:cNvPr id="34" name="Text 29"/>
          <p:cNvSpPr/>
          <p:nvPr/>
        </p:nvSpPr>
        <p:spPr>
          <a:xfrm>
            <a:off x="6693408" y="246888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500" dirty="0"/>
          </a:p>
        </p:txBody>
      </p:sp>
      <p:sp>
        <p:nvSpPr>
          <p:cNvPr id="35" name="Text 30"/>
          <p:cNvSpPr/>
          <p:nvPr/>
        </p:nvSpPr>
        <p:spPr>
          <a:xfrm>
            <a:off x="7269480" y="2249424"/>
            <a:ext cx="43434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2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 Analysis</a:t>
            </a:r>
            <a:endParaRPr lang="en-US" sz="1550" dirty="0"/>
          </a:p>
        </p:txBody>
      </p:sp>
      <p:sp>
        <p:nvSpPr>
          <p:cNvPr id="36" name="Shape 31"/>
          <p:cNvSpPr/>
          <p:nvPr/>
        </p:nvSpPr>
        <p:spPr>
          <a:xfrm>
            <a:off x="6492240" y="3218688"/>
            <a:ext cx="5257800" cy="841248"/>
          </a:xfrm>
          <a:prstGeom prst="roundRect">
            <a:avLst>
              <a:gd name="adj" fmla="val 6522"/>
            </a:avLst>
          </a:prstGeom>
          <a:solidFill>
            <a:srgbClr val="F3F7FC"/>
          </a:solidFill>
          <a:ln w="12700">
            <a:solidFill>
              <a:srgbClr val="C7D5EC"/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6693408" y="3438144"/>
            <a:ext cx="402336" cy="402336"/>
          </a:xfrm>
          <a:prstGeom prst="ellipse">
            <a:avLst/>
          </a:prstGeom>
          <a:solidFill>
            <a:srgbClr val="1F3B73"/>
          </a:solidFill>
          <a:ln/>
        </p:spPr>
      </p:sp>
      <p:sp>
        <p:nvSpPr>
          <p:cNvPr id="38" name="Text 33"/>
          <p:cNvSpPr/>
          <p:nvPr/>
        </p:nvSpPr>
        <p:spPr>
          <a:xfrm>
            <a:off x="6693408" y="343814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500" dirty="0"/>
          </a:p>
        </p:txBody>
      </p:sp>
      <p:sp>
        <p:nvSpPr>
          <p:cNvPr id="39" name="Text 34"/>
          <p:cNvSpPr/>
          <p:nvPr/>
        </p:nvSpPr>
        <p:spPr>
          <a:xfrm>
            <a:off x="7269480" y="3218688"/>
            <a:ext cx="43434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2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Additional Contributions</a:t>
            </a:r>
            <a:endParaRPr lang="en-US" sz="1550" dirty="0"/>
          </a:p>
        </p:txBody>
      </p:sp>
      <p:sp>
        <p:nvSpPr>
          <p:cNvPr id="40" name="Shape 35"/>
          <p:cNvSpPr/>
          <p:nvPr/>
        </p:nvSpPr>
        <p:spPr>
          <a:xfrm>
            <a:off x="6492240" y="4187952"/>
            <a:ext cx="5257800" cy="841248"/>
          </a:xfrm>
          <a:prstGeom prst="roundRect">
            <a:avLst>
              <a:gd name="adj" fmla="val 6522"/>
            </a:avLst>
          </a:prstGeom>
          <a:solidFill>
            <a:srgbClr val="F3F7FC"/>
          </a:solidFill>
          <a:ln w="12700">
            <a:solidFill>
              <a:srgbClr val="C7D5EC"/>
            </a:solidFill>
            <a:prstDash val="solid"/>
          </a:ln>
        </p:spPr>
      </p:sp>
      <p:sp>
        <p:nvSpPr>
          <p:cNvPr id="41" name="Shape 36"/>
          <p:cNvSpPr/>
          <p:nvPr/>
        </p:nvSpPr>
        <p:spPr>
          <a:xfrm>
            <a:off x="6693408" y="4407408"/>
            <a:ext cx="402336" cy="402336"/>
          </a:xfrm>
          <a:prstGeom prst="ellipse">
            <a:avLst/>
          </a:prstGeom>
          <a:solidFill>
            <a:srgbClr val="1F3B73"/>
          </a:solidFill>
          <a:ln/>
        </p:spPr>
      </p:sp>
      <p:sp>
        <p:nvSpPr>
          <p:cNvPr id="42" name="Text 37"/>
          <p:cNvSpPr/>
          <p:nvPr/>
        </p:nvSpPr>
        <p:spPr>
          <a:xfrm>
            <a:off x="6693408" y="440740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500" dirty="0"/>
          </a:p>
        </p:txBody>
      </p:sp>
      <p:sp>
        <p:nvSpPr>
          <p:cNvPr id="43" name="Text 38"/>
          <p:cNvSpPr/>
          <p:nvPr/>
        </p:nvSpPr>
        <p:spPr>
          <a:xfrm>
            <a:off x="7269480" y="4187952"/>
            <a:ext cx="43434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2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Timeline &amp; Skills</a:t>
            </a:r>
            <a:endParaRPr lang="en-US" sz="1550" dirty="0"/>
          </a:p>
        </p:txBody>
      </p:sp>
      <p:sp>
        <p:nvSpPr>
          <p:cNvPr id="44" name="Shape 39"/>
          <p:cNvSpPr/>
          <p:nvPr/>
        </p:nvSpPr>
        <p:spPr>
          <a:xfrm>
            <a:off x="6492240" y="5157216"/>
            <a:ext cx="5257800" cy="841248"/>
          </a:xfrm>
          <a:prstGeom prst="roundRect">
            <a:avLst>
              <a:gd name="adj" fmla="val 6522"/>
            </a:avLst>
          </a:prstGeom>
          <a:solidFill>
            <a:srgbClr val="F3F7FC"/>
          </a:solidFill>
          <a:ln w="12700">
            <a:solidFill>
              <a:srgbClr val="C7D5EC"/>
            </a:solidFill>
            <a:prstDash val="solid"/>
          </a:ln>
        </p:spPr>
      </p:sp>
      <p:sp>
        <p:nvSpPr>
          <p:cNvPr id="45" name="Shape 40"/>
          <p:cNvSpPr/>
          <p:nvPr/>
        </p:nvSpPr>
        <p:spPr>
          <a:xfrm>
            <a:off x="6693408" y="5376672"/>
            <a:ext cx="402336" cy="402336"/>
          </a:xfrm>
          <a:prstGeom prst="ellipse">
            <a:avLst/>
          </a:prstGeom>
          <a:solidFill>
            <a:srgbClr val="1F3B73"/>
          </a:solidFill>
          <a:ln/>
        </p:spPr>
      </p:sp>
      <p:sp>
        <p:nvSpPr>
          <p:cNvPr id="46" name="Text 41"/>
          <p:cNvSpPr/>
          <p:nvPr/>
        </p:nvSpPr>
        <p:spPr>
          <a:xfrm>
            <a:off x="6693408" y="53766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500" dirty="0"/>
          </a:p>
        </p:txBody>
      </p:sp>
      <p:sp>
        <p:nvSpPr>
          <p:cNvPr id="47" name="Text 42"/>
          <p:cNvSpPr/>
          <p:nvPr/>
        </p:nvSpPr>
        <p:spPr>
          <a:xfrm>
            <a:off x="7269480" y="5157216"/>
            <a:ext cx="43434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2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Scope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itle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8412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91440"/>
            <a:ext cx="10424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— The Problem Space</a:t>
            </a:r>
            <a:endParaRPr lang="en-US" sz="2300" dirty="0"/>
          </a:p>
        </p:txBody>
      </p:sp>
      <p:pic>
        <p:nvPicPr>
          <p:cNvPr id="4" name="Image 1" descr="footerb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55664"/>
            <a:ext cx="12191695" cy="40233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20040" y="6455664"/>
            <a:ext cx="5486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Computer Engineering</a:t>
            </a:r>
            <a:endParaRPr lang="en-US" sz="1050" dirty="0"/>
          </a:p>
        </p:txBody>
      </p:sp>
      <p:sp>
        <p:nvSpPr>
          <p:cNvPr id="6" name="Text 2"/>
          <p:cNvSpPr/>
          <p:nvPr/>
        </p:nvSpPr>
        <p:spPr>
          <a:xfrm>
            <a:off x="10637215" y="6455664"/>
            <a:ext cx="1234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30</a:t>
            </a:r>
            <a:endParaRPr lang="en-US" sz="1050" dirty="0"/>
          </a:p>
        </p:txBody>
      </p:sp>
      <p:pic>
        <p:nvPicPr>
          <p:cNvPr id="7" name="Image 2" descr="cres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8463" y="5852160"/>
            <a:ext cx="457200" cy="54864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48640" y="1234440"/>
            <a:ext cx="67665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Pharmaceutical labs generate massive volumes of research PDFs — stability studies, certificates of analysis, batch records.</a:t>
            </a:r>
            <a:endParaRPr lang="en-US" sz="1500" dirty="0"/>
          </a:p>
          <a:p>
            <a:pPr marL="177800" indent="-1778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vary widely in format, layout and structure across laboratories and vendors.</a:t>
            </a:r>
            <a:endParaRPr lang="en-US" sz="1500" dirty="0"/>
          </a:p>
          <a:p>
            <a:pPr marL="177800" indent="-1778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Scanned documents introduce OCR challenges; character-level errors matter in identifiers and results.</a:t>
            </a:r>
            <a:endParaRPr lang="en-US" sz="1500" dirty="0"/>
          </a:p>
          <a:p>
            <a:pPr marL="177800" indent="-1778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frequently span multiple pages — the “table bleed” problem.</a:t>
            </a:r>
            <a:endParaRPr lang="en-US" sz="1500" dirty="0"/>
          </a:p>
          <a:p>
            <a:pPr marL="177800" indent="-1778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extraction is slow, error-prone and does not scale to hundreds of documents.</a:t>
            </a:r>
            <a:endParaRPr lang="en-US" sz="1500" dirty="0"/>
          </a:p>
        </p:txBody>
      </p:sp>
      <p:sp>
        <p:nvSpPr>
          <p:cNvPr id="9" name="Shape 4"/>
          <p:cNvSpPr/>
          <p:nvPr/>
        </p:nvSpPr>
        <p:spPr>
          <a:xfrm>
            <a:off x="7589520" y="1371600"/>
            <a:ext cx="4023360" cy="1600200"/>
          </a:xfrm>
          <a:prstGeom prst="roundRect">
            <a:avLst>
              <a:gd name="adj" fmla="val 3429"/>
            </a:avLst>
          </a:prstGeom>
          <a:solidFill>
            <a:srgbClr val="F3F7FC"/>
          </a:solidFill>
          <a:ln w="12700">
            <a:solidFill>
              <a:srgbClr val="C7D5EC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7827264" y="1499616"/>
            <a:ext cx="36027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B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 areas</a:t>
            </a:r>
            <a:endParaRPr lang="en-US" sz="1450" dirty="0"/>
          </a:p>
        </p:txBody>
      </p:sp>
      <p:sp>
        <p:nvSpPr>
          <p:cNvPr id="11" name="Text 6"/>
          <p:cNvSpPr/>
          <p:nvPr/>
        </p:nvSpPr>
        <p:spPr>
          <a:xfrm>
            <a:off x="7827264" y="1920240"/>
            <a:ext cx="3566160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Computing  ·  Data Engineering  ·  Document AI  ·  OCR</a:t>
            </a:r>
            <a:endParaRPr lang="en-US" sz="1350" dirty="0"/>
          </a:p>
        </p:txBody>
      </p:sp>
      <p:sp>
        <p:nvSpPr>
          <p:cNvPr id="12" name="Shape 7"/>
          <p:cNvSpPr/>
          <p:nvPr/>
        </p:nvSpPr>
        <p:spPr>
          <a:xfrm>
            <a:off x="7589520" y="3200400"/>
            <a:ext cx="1874520" cy="1828800"/>
          </a:xfrm>
          <a:prstGeom prst="roundRect">
            <a:avLst>
              <a:gd name="adj" fmla="val 3000"/>
            </a:avLst>
          </a:prstGeom>
          <a:solidFill>
            <a:srgbClr val="FBEAEA"/>
          </a:solidFill>
          <a:ln w="12700">
            <a:solidFill>
              <a:srgbClr val="B0121A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7680960" y="3328416"/>
            <a:ext cx="1691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012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Days</a:t>
            </a:r>
            <a:endParaRPr lang="en-US" sz="4000" dirty="0"/>
          </a:p>
        </p:txBody>
      </p:sp>
      <p:sp>
        <p:nvSpPr>
          <p:cNvPr id="14" name="Text 9"/>
          <p:cNvSpPr/>
          <p:nvPr/>
        </p:nvSpPr>
        <p:spPr>
          <a:xfrm>
            <a:off x="7699248" y="4334256"/>
            <a:ext cx="1655064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extraction time per batch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9738360" y="3200400"/>
            <a:ext cx="1874520" cy="1828800"/>
          </a:xfrm>
          <a:prstGeom prst="roundRect">
            <a:avLst>
              <a:gd name="adj" fmla="val 3000"/>
            </a:avLst>
          </a:prstGeom>
          <a:solidFill>
            <a:srgbClr val="E7F3EA"/>
          </a:solidFill>
          <a:ln w="12700">
            <a:solidFill>
              <a:srgbClr val="2E7D46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9829800" y="3328416"/>
            <a:ext cx="1691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7D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Hours</a:t>
            </a:r>
            <a:endParaRPr lang="en-US" sz="3000" dirty="0"/>
          </a:p>
        </p:txBody>
      </p:sp>
      <p:sp>
        <p:nvSpPr>
          <p:cNvPr id="17" name="Text 12"/>
          <p:cNvSpPr/>
          <p:nvPr/>
        </p:nvSpPr>
        <p:spPr>
          <a:xfrm>
            <a:off x="9848088" y="4334256"/>
            <a:ext cx="1655064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with automation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itle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8412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91440"/>
            <a:ext cx="10424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— The Solution</a:t>
            </a:r>
            <a:endParaRPr lang="en-US" sz="2300" dirty="0"/>
          </a:p>
        </p:txBody>
      </p:sp>
      <p:pic>
        <p:nvPicPr>
          <p:cNvPr id="4" name="Image 1" descr="footerb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55664"/>
            <a:ext cx="12191695" cy="40233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20040" y="6455664"/>
            <a:ext cx="5486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Computer Engineering</a:t>
            </a:r>
            <a:endParaRPr lang="en-US" sz="1050" dirty="0"/>
          </a:p>
        </p:txBody>
      </p:sp>
      <p:sp>
        <p:nvSpPr>
          <p:cNvPr id="6" name="Text 2"/>
          <p:cNvSpPr/>
          <p:nvPr/>
        </p:nvSpPr>
        <p:spPr>
          <a:xfrm>
            <a:off x="10637215" y="6455664"/>
            <a:ext cx="1234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30</a:t>
            </a:r>
            <a:endParaRPr lang="en-US" sz="1050" dirty="0"/>
          </a:p>
        </p:txBody>
      </p:sp>
      <p:pic>
        <p:nvPicPr>
          <p:cNvPr id="7" name="Image 2" descr="cres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8463" y="5852160"/>
            <a:ext cx="457200" cy="54864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548640" y="1234440"/>
            <a:ext cx="11064240" cy="1371600"/>
          </a:xfrm>
          <a:prstGeom prst="roundRect">
            <a:avLst>
              <a:gd name="adj" fmla="val 4000"/>
            </a:avLst>
          </a:prstGeom>
          <a:solidFill>
            <a:srgbClr val="EAF1FB"/>
          </a:solidFill>
          <a:ln w="12700">
            <a:solidFill>
              <a:srgbClr val="3E6DB5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822960" y="137160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650" b="1" dirty="0">
                <a:solidFill>
                  <a:srgbClr val="1F3B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scalable, cloud-native, template-free system that automatically parses diverse research PDFs and converts them into standardised JSON for downstream analytics, reporting and regulatory archival.</a:t>
            </a:r>
            <a:endParaRPr lang="en-US" sz="1650" dirty="0"/>
          </a:p>
        </p:txBody>
      </p:sp>
      <p:sp>
        <p:nvSpPr>
          <p:cNvPr id="10" name="Shape 5"/>
          <p:cNvSpPr/>
          <p:nvPr/>
        </p:nvSpPr>
        <p:spPr>
          <a:xfrm>
            <a:off x="548640" y="2880360"/>
            <a:ext cx="5394960" cy="2148840"/>
          </a:xfrm>
          <a:prstGeom prst="roundRect">
            <a:avLst>
              <a:gd name="adj" fmla="val 2553"/>
            </a:avLst>
          </a:prstGeom>
          <a:solidFill>
            <a:srgbClr val="F3F7FC"/>
          </a:solidFill>
          <a:ln w="12700">
            <a:solidFill>
              <a:srgbClr val="C7D5EC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786384" y="3008376"/>
            <a:ext cx="49743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B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1450" dirty="0"/>
          </a:p>
        </p:txBody>
      </p:sp>
      <p:sp>
        <p:nvSpPr>
          <p:cNvPr id="12" name="Text 7"/>
          <p:cNvSpPr/>
          <p:nvPr/>
        </p:nvSpPr>
        <p:spPr>
          <a:xfrm>
            <a:off x="786384" y="3429000"/>
            <a:ext cx="4937760" cy="1490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Shifts reviewers from reading every line to checking only flagged values</a:t>
            </a:r>
            <a:endParaRPr lang="en-US" sz="1350" dirty="0"/>
          </a:p>
          <a:p>
            <a:pPr algn="l" marL="177800" indent="-1778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across vendors and document types — no per-template engineering</a:t>
            </a:r>
            <a:endParaRPr lang="en-US" sz="1350" dirty="0"/>
          </a:p>
          <a:p>
            <a:pPr algn="l" marL="177800" indent="-1778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entirely on managed, serverless AWS services</a:t>
            </a:r>
            <a:endParaRPr lang="en-US" sz="1350" dirty="0"/>
          </a:p>
        </p:txBody>
      </p:sp>
      <p:sp>
        <p:nvSpPr>
          <p:cNvPr id="13" name="Shape 8"/>
          <p:cNvSpPr/>
          <p:nvPr/>
        </p:nvSpPr>
        <p:spPr>
          <a:xfrm>
            <a:off x="6217920" y="2880360"/>
            <a:ext cx="5394960" cy="2148840"/>
          </a:xfrm>
          <a:prstGeom prst="roundRect">
            <a:avLst>
              <a:gd name="adj" fmla="val 2553"/>
            </a:avLst>
          </a:prstGeom>
          <a:solidFill>
            <a:srgbClr val="F3F7FC"/>
          </a:solidFill>
          <a:ln w="12700">
            <a:solidFill>
              <a:srgbClr val="C7D5EC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6455664" y="3008376"/>
            <a:ext cx="49743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B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Organisation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6455664" y="3429000"/>
            <a:ext cx="4937760" cy="1490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 Lilly and Company, Hyderabad</a:t>
            </a:r>
            <a:endParaRPr lang="en-US" sz="1350" dirty="0"/>
          </a:p>
          <a:p>
            <a:pPr algn="l" marL="177800" indent="-1778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Data — Data Delivery team</a:t>
            </a:r>
            <a:endParaRPr lang="en-US" sz="1350" dirty="0"/>
          </a:p>
          <a:p>
            <a:pPr algn="l" marL="177800" indent="-1778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Six-month internship: 16 Jan – 15 Jul 2026, Agile delivery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itle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8412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91440"/>
            <a:ext cx="10424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Survey &amp; Background Theory</a:t>
            </a:r>
            <a:endParaRPr lang="en-US" sz="2300" dirty="0"/>
          </a:p>
        </p:txBody>
      </p:sp>
      <p:pic>
        <p:nvPicPr>
          <p:cNvPr id="4" name="Image 1" descr="footerb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55664"/>
            <a:ext cx="12191695" cy="40233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20040" y="6455664"/>
            <a:ext cx="5486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Computer Engineering</a:t>
            </a:r>
            <a:endParaRPr lang="en-US" sz="1050" dirty="0"/>
          </a:p>
        </p:txBody>
      </p:sp>
      <p:sp>
        <p:nvSpPr>
          <p:cNvPr id="6" name="Text 2"/>
          <p:cNvSpPr/>
          <p:nvPr/>
        </p:nvSpPr>
        <p:spPr>
          <a:xfrm>
            <a:off x="10637215" y="6455664"/>
            <a:ext cx="1234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30</a:t>
            </a:r>
            <a:endParaRPr lang="en-US" sz="1050" dirty="0"/>
          </a:p>
        </p:txBody>
      </p:sp>
      <p:pic>
        <p:nvPicPr>
          <p:cNvPr id="7" name="Image 2" descr="cres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8463" y="5852160"/>
            <a:ext cx="457200" cy="54864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548640" y="1280160"/>
            <a:ext cx="5440680" cy="1783080"/>
          </a:xfrm>
          <a:prstGeom prst="roundRect">
            <a:avLst>
              <a:gd name="adj" fmla="val 3077"/>
            </a:avLst>
          </a:prstGeom>
          <a:solidFill>
            <a:srgbClr val="F3F7FC"/>
          </a:solidFill>
          <a:ln w="12700">
            <a:solidFill>
              <a:srgbClr val="C7D5EC"/>
            </a:solidFill>
            <a:prstDash val="solid"/>
          </a:ln>
        </p:spPr>
      </p:sp>
      <p:sp>
        <p:nvSpPr>
          <p:cNvPr id="9" name="Shape 4"/>
          <p:cNvSpPr/>
          <p:nvPr/>
        </p:nvSpPr>
        <p:spPr>
          <a:xfrm>
            <a:off x="749808" y="1499616"/>
            <a:ext cx="146304" cy="146304"/>
          </a:xfrm>
          <a:prstGeom prst="ellipse">
            <a:avLst/>
          </a:prstGeom>
          <a:solidFill>
            <a:srgbClr val="5A6478"/>
          </a:solidFill>
          <a:ln/>
        </p:spPr>
      </p:sp>
      <p:sp>
        <p:nvSpPr>
          <p:cNvPr id="10" name="Text 5"/>
          <p:cNvSpPr/>
          <p:nvPr/>
        </p:nvSpPr>
        <p:spPr>
          <a:xfrm>
            <a:off x="1005840" y="1408176"/>
            <a:ext cx="4800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B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Traditional OCR (Tesseract)</a:t>
            </a:r>
            <a:endParaRPr lang="en-US" sz="1450" dirty="0"/>
          </a:p>
        </p:txBody>
      </p:sp>
      <p:sp>
        <p:nvSpPr>
          <p:cNvPr id="11" name="Text 6"/>
          <p:cNvSpPr/>
          <p:nvPr/>
        </p:nvSpPr>
        <p:spPr>
          <a:xfrm>
            <a:off x="786384" y="1828800"/>
            <a:ext cx="4983480" cy="1124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text extraction; struggles with the complex, multi-column, table-heavy layouts common in scientific documents.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6172200" y="1280160"/>
            <a:ext cx="5440680" cy="1783080"/>
          </a:xfrm>
          <a:prstGeom prst="roundRect">
            <a:avLst>
              <a:gd name="adj" fmla="val 3077"/>
            </a:avLst>
          </a:prstGeom>
          <a:solidFill>
            <a:srgbClr val="F3F7FC"/>
          </a:solidFill>
          <a:ln w="12700">
            <a:solidFill>
              <a:srgbClr val="C7D5EC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6373368" y="1499616"/>
            <a:ext cx="146304" cy="146304"/>
          </a:xfrm>
          <a:prstGeom prst="ellipse">
            <a:avLst/>
          </a:prstGeom>
          <a:solidFill>
            <a:srgbClr val="3E6DB5"/>
          </a:solidFill>
          <a:ln/>
        </p:spPr>
      </p:sp>
      <p:sp>
        <p:nvSpPr>
          <p:cNvPr id="14" name="Text 9"/>
          <p:cNvSpPr/>
          <p:nvPr/>
        </p:nvSpPr>
        <p:spPr>
          <a:xfrm>
            <a:off x="6629400" y="1408176"/>
            <a:ext cx="4800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B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Amazon Textract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6409944" y="1828800"/>
            <a:ext cx="4983480" cy="1124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Deep-learning form and table extraction, enterprise-grade — but outputs unstructured text. Used here as the OCR ground-truth baseline.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548640" y="3200400"/>
            <a:ext cx="5440680" cy="1783080"/>
          </a:xfrm>
          <a:prstGeom prst="roundRect">
            <a:avLst>
              <a:gd name="adj" fmla="val 3077"/>
            </a:avLst>
          </a:prstGeom>
          <a:solidFill>
            <a:srgbClr val="F3F7FC"/>
          </a:solidFill>
          <a:ln w="12700">
            <a:solidFill>
              <a:srgbClr val="C7D5EC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749808" y="3419856"/>
            <a:ext cx="146304" cy="146304"/>
          </a:xfrm>
          <a:prstGeom prst="ellipse">
            <a:avLst/>
          </a:prstGeom>
          <a:solidFill>
            <a:srgbClr val="1F3B73"/>
          </a:solidFill>
          <a:ln/>
        </p:spPr>
      </p:sp>
      <p:sp>
        <p:nvSpPr>
          <p:cNvPr id="18" name="Text 13"/>
          <p:cNvSpPr/>
          <p:nvPr/>
        </p:nvSpPr>
        <p:spPr>
          <a:xfrm>
            <a:off x="1005840" y="3328416"/>
            <a:ext cx="4800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B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 Language Models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786384" y="3749040"/>
            <a:ext cx="4983480" cy="1124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visual + language understanding for layout-aware extraction; outperform text-only pipelines. Adopted as the core engine.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6172200" y="3200400"/>
            <a:ext cx="5440680" cy="1783080"/>
          </a:xfrm>
          <a:prstGeom prst="roundRect">
            <a:avLst>
              <a:gd name="adj" fmla="val 3077"/>
            </a:avLst>
          </a:prstGeom>
          <a:solidFill>
            <a:srgbClr val="F3F7FC"/>
          </a:solidFill>
          <a:ln w="12700">
            <a:solidFill>
              <a:srgbClr val="C7D5EC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373368" y="3419856"/>
            <a:ext cx="146304" cy="146304"/>
          </a:xfrm>
          <a:prstGeom prst="ellipse">
            <a:avLst/>
          </a:prstGeom>
          <a:solidFill>
            <a:srgbClr val="C9862B"/>
          </a:solidFill>
          <a:ln/>
        </p:spPr>
      </p:sp>
      <p:sp>
        <p:nvSpPr>
          <p:cNvPr id="22" name="Text 17"/>
          <p:cNvSpPr/>
          <p:nvPr/>
        </p:nvSpPr>
        <p:spPr>
          <a:xfrm>
            <a:off x="6629400" y="3328416"/>
            <a:ext cx="4800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B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Distillation</a:t>
            </a:r>
            <a:endParaRPr lang="en-US" sz="1450" dirty="0"/>
          </a:p>
        </p:txBody>
      </p:sp>
      <p:sp>
        <p:nvSpPr>
          <p:cNvPr id="23" name="Text 18"/>
          <p:cNvSpPr/>
          <p:nvPr/>
        </p:nvSpPr>
        <p:spPr>
          <a:xfrm>
            <a:off x="6409944" y="3749040"/>
            <a:ext cx="4983480" cy="1124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smaller domain-specific model from a larger one for efficient inference at scale — retained as future scope.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548640" y="51206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AWS architectures (S3 → Lambda → Glue) form the established pattern for automated, serverless document processing.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itle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8412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91440"/>
            <a:ext cx="10424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Technologies Evaluated</a:t>
            </a:r>
            <a:endParaRPr lang="en-US" sz="2300" dirty="0"/>
          </a:p>
        </p:txBody>
      </p:sp>
      <p:pic>
        <p:nvPicPr>
          <p:cNvPr id="4" name="Image 1" descr="footerb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55664"/>
            <a:ext cx="12191695" cy="40233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20040" y="6455664"/>
            <a:ext cx="5486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Computer Engineering</a:t>
            </a:r>
            <a:endParaRPr lang="en-US" sz="1050" dirty="0"/>
          </a:p>
        </p:txBody>
      </p:sp>
      <p:sp>
        <p:nvSpPr>
          <p:cNvPr id="6" name="Text 2"/>
          <p:cNvSpPr/>
          <p:nvPr/>
        </p:nvSpPr>
        <p:spPr>
          <a:xfrm>
            <a:off x="10637215" y="6455664"/>
            <a:ext cx="1234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30</a:t>
            </a:r>
            <a:endParaRPr lang="en-US" sz="1050" dirty="0"/>
          </a:p>
        </p:txBody>
      </p:sp>
      <p:pic>
        <p:nvPicPr>
          <p:cNvPr id="7" name="Image 2" descr="cres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8463" y="5852160"/>
            <a:ext cx="457200" cy="54864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548640" y="1417320"/>
            <a:ext cx="3529584" cy="3200400"/>
          </a:xfrm>
          <a:prstGeom prst="roundRect">
            <a:avLst>
              <a:gd name="adj" fmla="val 1714"/>
            </a:avLst>
          </a:prstGeom>
          <a:solidFill>
            <a:srgbClr val="FBEAEA"/>
          </a:solidFill>
          <a:ln w="12700">
            <a:solidFill>
              <a:srgbClr val="B0121A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731520" y="1554480"/>
            <a:ext cx="31638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012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Docling (open source)</a:t>
            </a:r>
            <a:endParaRPr lang="en-US" sz="1450" dirty="0"/>
          </a:p>
        </p:txBody>
      </p:sp>
      <p:sp>
        <p:nvSpPr>
          <p:cNvPr id="10" name="Text 5"/>
          <p:cNvSpPr/>
          <p:nvPr/>
        </p:nvSpPr>
        <p:spPr>
          <a:xfrm>
            <a:off x="731520" y="1920240"/>
            <a:ext cx="3163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01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ADOPTED</a:t>
            </a:r>
            <a:endParaRPr lang="en-US" sz="1050" dirty="0"/>
          </a:p>
        </p:txBody>
      </p:sp>
      <p:sp>
        <p:nvSpPr>
          <p:cNvPr id="11" name="Text 6"/>
          <p:cNvSpPr/>
          <p:nvPr/>
        </p:nvSpPr>
        <p:spPr>
          <a:xfrm>
            <a:off x="731520" y="2286000"/>
            <a:ext cx="3163824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as a Textract replacement. Textract alone outperformed both Docling and Docling + Textract, and Docling added overhead with no quality gain — dropped.</a:t>
            </a:r>
            <a:endParaRPr lang="en-US" sz="1250" dirty="0"/>
          </a:p>
        </p:txBody>
      </p:sp>
      <p:sp>
        <p:nvSpPr>
          <p:cNvPr id="12" name="Shape 7"/>
          <p:cNvSpPr/>
          <p:nvPr/>
        </p:nvSpPr>
        <p:spPr>
          <a:xfrm>
            <a:off x="4334256" y="1417320"/>
            <a:ext cx="3529584" cy="3200400"/>
          </a:xfrm>
          <a:prstGeom prst="roundRect">
            <a:avLst>
              <a:gd name="adj" fmla="val 1714"/>
            </a:avLst>
          </a:prstGeom>
          <a:solidFill>
            <a:srgbClr val="E7F3EA"/>
          </a:solidFill>
          <a:ln w="12700">
            <a:solidFill>
              <a:srgbClr val="2E7D46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4517136" y="1554480"/>
            <a:ext cx="31638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E7D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Internal GenAI gateway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4517136" y="1920240"/>
            <a:ext cx="3163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ADOPTED</a:t>
            </a:r>
            <a:endParaRPr lang="en-US" sz="1050" dirty="0"/>
          </a:p>
        </p:txBody>
      </p:sp>
      <p:sp>
        <p:nvSpPr>
          <p:cNvPr id="15" name="Text 10"/>
          <p:cNvSpPr/>
          <p:nvPr/>
        </p:nvSpPr>
        <p:spPr>
          <a:xfrm>
            <a:off x="4517136" y="2286000"/>
            <a:ext cx="3163824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Migrated from AWS Bedrock to an internal GenAI gateway for access to stronger models — significantly improved extraction quality across all document types.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8119872" y="1417320"/>
            <a:ext cx="3529584" cy="3200400"/>
          </a:xfrm>
          <a:prstGeom prst="roundRect">
            <a:avLst>
              <a:gd name="adj" fmla="val 1714"/>
            </a:avLst>
          </a:prstGeom>
          <a:solidFill>
            <a:srgbClr val="EAF1FB"/>
          </a:solidFill>
          <a:ln w="12700">
            <a:solidFill>
              <a:srgbClr val="1F3B73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8302752" y="1554480"/>
            <a:ext cx="31638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B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AWS services stack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302752" y="1920240"/>
            <a:ext cx="3163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STACK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8302752" y="2286000"/>
            <a:ext cx="3163824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(storage + triggers), Lambda (orchestration), Glue (ETL), Textract (OCR), Secrets Manager, CloudWatch — an event-driven pipeline.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548640" y="48920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evaluated: parallel processing, prompt engineering, suggested-schema generation, and a self-healing rerun mechanism.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itle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8412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91440"/>
            <a:ext cx="10424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Definition</a:t>
            </a:r>
            <a:endParaRPr lang="en-US" sz="2300" dirty="0"/>
          </a:p>
        </p:txBody>
      </p:sp>
      <p:pic>
        <p:nvPicPr>
          <p:cNvPr id="4" name="Image 1" descr="footerb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55664"/>
            <a:ext cx="12191695" cy="40233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20040" y="6455664"/>
            <a:ext cx="5486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Computer Engineering</a:t>
            </a:r>
            <a:endParaRPr lang="en-US" sz="1050" dirty="0"/>
          </a:p>
        </p:txBody>
      </p:sp>
      <p:sp>
        <p:nvSpPr>
          <p:cNvPr id="6" name="Text 2"/>
          <p:cNvSpPr/>
          <p:nvPr/>
        </p:nvSpPr>
        <p:spPr>
          <a:xfrm>
            <a:off x="10637215" y="6455664"/>
            <a:ext cx="1234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30</a:t>
            </a:r>
            <a:endParaRPr lang="en-US" sz="1050" dirty="0"/>
          </a:p>
        </p:txBody>
      </p:sp>
      <p:pic>
        <p:nvPicPr>
          <p:cNvPr id="7" name="Image 2" descr="cres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8463" y="5852160"/>
            <a:ext cx="457200" cy="54864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48640" y="118872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automation, data ingestion is delayed, manual errors affect reliability, scaling across document types is hard, and regulatory documentation lacks structured archival.</a:t>
            </a:r>
            <a:endParaRPr lang="en-US" sz="1400" dirty="0"/>
          </a:p>
        </p:txBody>
      </p:sp>
      <p:sp>
        <p:nvSpPr>
          <p:cNvPr id="9" name="Shape 4"/>
          <p:cNvSpPr/>
          <p:nvPr/>
        </p:nvSpPr>
        <p:spPr>
          <a:xfrm>
            <a:off x="548640" y="1965960"/>
            <a:ext cx="5440680" cy="1554480"/>
          </a:xfrm>
          <a:prstGeom prst="roundRect">
            <a:avLst>
              <a:gd name="adj" fmla="val 3529"/>
            </a:avLst>
          </a:prstGeom>
          <a:solidFill>
            <a:srgbClr val="F3F7FC"/>
          </a:solidFill>
          <a:ln w="12700">
            <a:solidFill>
              <a:srgbClr val="C7D5EC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749808" y="2185416"/>
            <a:ext cx="146304" cy="146304"/>
          </a:xfrm>
          <a:prstGeom prst="ellipse">
            <a:avLst/>
          </a:prstGeom>
          <a:solidFill>
            <a:srgbClr val="1F3B73"/>
          </a:solidFill>
          <a:ln/>
        </p:spPr>
      </p:sp>
      <p:sp>
        <p:nvSpPr>
          <p:cNvPr id="11" name="Text 6"/>
          <p:cNvSpPr/>
          <p:nvPr/>
        </p:nvSpPr>
        <p:spPr>
          <a:xfrm>
            <a:off x="1005840" y="2093976"/>
            <a:ext cx="4800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B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Heterogeneous formats</a:t>
            </a:r>
            <a:endParaRPr lang="en-US" sz="1450" dirty="0"/>
          </a:p>
        </p:txBody>
      </p:sp>
      <p:sp>
        <p:nvSpPr>
          <p:cNvPr id="12" name="Text 7"/>
          <p:cNvSpPr/>
          <p:nvPr/>
        </p:nvSpPr>
        <p:spPr>
          <a:xfrm>
            <a:off x="786384" y="2514600"/>
            <a:ext cx="498348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vs scanned PDFs; layouts vary across labs and vendors.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6172200" y="1965960"/>
            <a:ext cx="5440680" cy="1554480"/>
          </a:xfrm>
          <a:prstGeom prst="roundRect">
            <a:avLst>
              <a:gd name="adj" fmla="val 3529"/>
            </a:avLst>
          </a:prstGeom>
          <a:solidFill>
            <a:srgbClr val="F3F7FC"/>
          </a:solidFill>
          <a:ln w="12700">
            <a:solidFill>
              <a:srgbClr val="C7D5EC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6373368" y="2185416"/>
            <a:ext cx="146304" cy="146304"/>
          </a:xfrm>
          <a:prstGeom prst="ellipse">
            <a:avLst/>
          </a:prstGeom>
          <a:solidFill>
            <a:srgbClr val="B0121A"/>
          </a:solidFill>
          <a:ln/>
        </p:spPr>
      </p:sp>
      <p:sp>
        <p:nvSpPr>
          <p:cNvPr id="15" name="Text 10"/>
          <p:cNvSpPr/>
          <p:nvPr/>
        </p:nvSpPr>
        <p:spPr>
          <a:xfrm>
            <a:off x="6629400" y="2093976"/>
            <a:ext cx="4800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B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 bleed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6409944" y="2514600"/>
            <a:ext cx="498348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span multiple pages and must be reconstructed as one.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548640" y="3657600"/>
            <a:ext cx="5440680" cy="1554480"/>
          </a:xfrm>
          <a:prstGeom prst="roundRect">
            <a:avLst>
              <a:gd name="adj" fmla="val 3529"/>
            </a:avLst>
          </a:prstGeom>
          <a:solidFill>
            <a:srgbClr val="F3F7FC"/>
          </a:solidFill>
          <a:ln w="12700">
            <a:solidFill>
              <a:srgbClr val="C7D5EC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749808" y="3877056"/>
            <a:ext cx="146304" cy="146304"/>
          </a:xfrm>
          <a:prstGeom prst="ellipse">
            <a:avLst/>
          </a:prstGeom>
          <a:solidFill>
            <a:srgbClr val="3E6DB5"/>
          </a:solidFill>
          <a:ln/>
        </p:spPr>
      </p:sp>
      <p:sp>
        <p:nvSpPr>
          <p:cNvPr id="19" name="Text 14"/>
          <p:cNvSpPr/>
          <p:nvPr/>
        </p:nvSpPr>
        <p:spPr>
          <a:xfrm>
            <a:off x="1005840" y="3785616"/>
            <a:ext cx="4800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B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OCR inaccuracies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786384" y="4206240"/>
            <a:ext cx="498348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Character-level errors in identifiers and numeric values.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6172200" y="3657600"/>
            <a:ext cx="5440680" cy="1554480"/>
          </a:xfrm>
          <a:prstGeom prst="roundRect">
            <a:avLst>
              <a:gd name="adj" fmla="val 3529"/>
            </a:avLst>
          </a:prstGeom>
          <a:solidFill>
            <a:srgbClr val="F3F7FC"/>
          </a:solidFill>
          <a:ln w="12700">
            <a:solidFill>
              <a:srgbClr val="C7D5EC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373368" y="3877056"/>
            <a:ext cx="146304" cy="146304"/>
          </a:xfrm>
          <a:prstGeom prst="ellipse">
            <a:avLst/>
          </a:prstGeom>
          <a:solidFill>
            <a:srgbClr val="C9862B"/>
          </a:solidFill>
          <a:ln/>
        </p:spPr>
      </p:sp>
      <p:sp>
        <p:nvSpPr>
          <p:cNvPr id="23" name="Text 18"/>
          <p:cNvSpPr/>
          <p:nvPr/>
        </p:nvSpPr>
        <p:spPr>
          <a:xfrm>
            <a:off x="6629400" y="3785616"/>
            <a:ext cx="4800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B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Schema variability</a:t>
            </a:r>
            <a:endParaRPr lang="en-US" sz="1450" dirty="0"/>
          </a:p>
        </p:txBody>
      </p:sp>
      <p:sp>
        <p:nvSpPr>
          <p:cNvPr id="24" name="Text 19"/>
          <p:cNvSpPr/>
          <p:nvPr/>
        </p:nvSpPr>
        <p:spPr>
          <a:xfrm>
            <a:off x="6409944" y="4206240"/>
            <a:ext cx="498348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standard structure across document types.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548640" y="534924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a strong need for a robust, scalable, secure system that transforms heterogeneous research PDFs into standardised structured data.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itle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8412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91440"/>
            <a:ext cx="10424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2300" dirty="0"/>
          </a:p>
        </p:txBody>
      </p:sp>
      <p:pic>
        <p:nvPicPr>
          <p:cNvPr id="4" name="Image 1" descr="footerb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55664"/>
            <a:ext cx="12191695" cy="40233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20040" y="6455664"/>
            <a:ext cx="5486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Computer Engineering</a:t>
            </a:r>
            <a:endParaRPr lang="en-US" sz="1050" dirty="0"/>
          </a:p>
        </p:txBody>
      </p:sp>
      <p:sp>
        <p:nvSpPr>
          <p:cNvPr id="6" name="Text 2"/>
          <p:cNvSpPr/>
          <p:nvPr/>
        </p:nvSpPr>
        <p:spPr>
          <a:xfrm>
            <a:off x="10637215" y="6455664"/>
            <a:ext cx="1234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30</a:t>
            </a:r>
            <a:endParaRPr lang="en-US" sz="1050" dirty="0"/>
          </a:p>
        </p:txBody>
      </p:sp>
      <p:pic>
        <p:nvPicPr>
          <p:cNvPr id="7" name="Image 2" descr="cres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8463" y="5852160"/>
            <a:ext cx="457200" cy="54864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548640" y="1371600"/>
            <a:ext cx="5440680" cy="1170432"/>
          </a:xfrm>
          <a:prstGeom prst="roundRect">
            <a:avLst>
              <a:gd name="adj" fmla="val 4688"/>
            </a:avLst>
          </a:prstGeom>
          <a:solidFill>
            <a:srgbClr val="F3F7FC"/>
          </a:solidFill>
          <a:ln w="12700">
            <a:solidFill>
              <a:srgbClr val="C7D5EC"/>
            </a:solidFill>
            <a:prstDash val="solid"/>
          </a:ln>
        </p:spPr>
      </p:sp>
      <p:sp>
        <p:nvSpPr>
          <p:cNvPr id="9" name="Shape 4"/>
          <p:cNvSpPr/>
          <p:nvPr/>
        </p:nvSpPr>
        <p:spPr>
          <a:xfrm>
            <a:off x="768096" y="1700784"/>
            <a:ext cx="512064" cy="512064"/>
          </a:xfrm>
          <a:prstGeom prst="ellipse">
            <a:avLst/>
          </a:prstGeom>
          <a:solidFill>
            <a:srgbClr val="1F3B73"/>
          </a:solidFill>
          <a:ln/>
        </p:spPr>
      </p:sp>
      <p:sp>
        <p:nvSpPr>
          <p:cNvPr id="10" name="Text 5"/>
          <p:cNvSpPr/>
          <p:nvPr/>
        </p:nvSpPr>
        <p:spPr>
          <a:xfrm>
            <a:off x="768096" y="170078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1463040" y="1371600"/>
            <a:ext cx="434340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AWS ingestion pipeline triggered by S3 uploads</a:t>
            </a:r>
            <a:endParaRPr lang="en-US" sz="1350" dirty="0"/>
          </a:p>
        </p:txBody>
      </p:sp>
      <p:sp>
        <p:nvSpPr>
          <p:cNvPr id="12" name="Shape 7"/>
          <p:cNvSpPr/>
          <p:nvPr/>
        </p:nvSpPr>
        <p:spPr>
          <a:xfrm>
            <a:off x="6172200" y="1371600"/>
            <a:ext cx="5440680" cy="1170432"/>
          </a:xfrm>
          <a:prstGeom prst="roundRect">
            <a:avLst>
              <a:gd name="adj" fmla="val 4688"/>
            </a:avLst>
          </a:prstGeom>
          <a:solidFill>
            <a:srgbClr val="F3F7FC"/>
          </a:solidFill>
          <a:ln w="12700">
            <a:solidFill>
              <a:srgbClr val="C7D5EC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6391656" y="1700784"/>
            <a:ext cx="512064" cy="512064"/>
          </a:xfrm>
          <a:prstGeom prst="ellipse">
            <a:avLst/>
          </a:prstGeom>
          <a:solidFill>
            <a:srgbClr val="1F3B73"/>
          </a:solidFill>
          <a:ln/>
        </p:spPr>
      </p:sp>
      <p:sp>
        <p:nvSpPr>
          <p:cNvPr id="14" name="Text 9"/>
          <p:cNvSpPr/>
          <p:nvPr/>
        </p:nvSpPr>
        <p:spPr>
          <a:xfrm>
            <a:off x="6391656" y="170078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7086600" y="1371600"/>
            <a:ext cx="434340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PDF parsing for heterogeneous document formats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548640" y="2724912"/>
            <a:ext cx="5440680" cy="1170432"/>
          </a:xfrm>
          <a:prstGeom prst="roundRect">
            <a:avLst>
              <a:gd name="adj" fmla="val 4688"/>
            </a:avLst>
          </a:prstGeom>
          <a:solidFill>
            <a:srgbClr val="F3F7FC"/>
          </a:solidFill>
          <a:ln w="12700">
            <a:solidFill>
              <a:srgbClr val="C7D5EC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768096" y="3054096"/>
            <a:ext cx="512064" cy="512064"/>
          </a:xfrm>
          <a:prstGeom prst="ellipse">
            <a:avLst/>
          </a:prstGeom>
          <a:solidFill>
            <a:srgbClr val="1F3B73"/>
          </a:solidFill>
          <a:ln/>
        </p:spPr>
      </p:sp>
      <p:sp>
        <p:nvSpPr>
          <p:cNvPr id="18" name="Text 13"/>
          <p:cNvSpPr/>
          <p:nvPr/>
        </p:nvSpPr>
        <p:spPr>
          <a:xfrm>
            <a:off x="768096" y="305409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1463040" y="2724912"/>
            <a:ext cx="434340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integration for scanned research documents</a:t>
            </a:r>
            <a:endParaRPr lang="en-US" sz="1350" dirty="0"/>
          </a:p>
        </p:txBody>
      </p:sp>
      <p:sp>
        <p:nvSpPr>
          <p:cNvPr id="20" name="Shape 15"/>
          <p:cNvSpPr/>
          <p:nvPr/>
        </p:nvSpPr>
        <p:spPr>
          <a:xfrm>
            <a:off x="6172200" y="2724912"/>
            <a:ext cx="5440680" cy="1170432"/>
          </a:xfrm>
          <a:prstGeom prst="roundRect">
            <a:avLst>
              <a:gd name="adj" fmla="val 4688"/>
            </a:avLst>
          </a:prstGeom>
          <a:solidFill>
            <a:srgbClr val="F3F7FC"/>
          </a:solidFill>
          <a:ln w="12700">
            <a:solidFill>
              <a:srgbClr val="C7D5EC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391656" y="3054096"/>
            <a:ext cx="512064" cy="512064"/>
          </a:xfrm>
          <a:prstGeom prst="ellipse">
            <a:avLst/>
          </a:prstGeom>
          <a:solidFill>
            <a:srgbClr val="1F3B73"/>
          </a:solidFill>
          <a:ln/>
        </p:spPr>
      </p:sp>
      <p:sp>
        <p:nvSpPr>
          <p:cNvPr id="22" name="Text 17"/>
          <p:cNvSpPr/>
          <p:nvPr/>
        </p:nvSpPr>
        <p:spPr>
          <a:xfrm>
            <a:off x="6391656" y="305409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18"/>
          <p:cNvSpPr/>
          <p:nvPr/>
        </p:nvSpPr>
        <p:spPr>
          <a:xfrm>
            <a:off x="7086600" y="2724912"/>
            <a:ext cx="434340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Multi-page table detection and reconstruction (table bleed)</a:t>
            </a:r>
            <a:endParaRPr lang="en-US" sz="1350" dirty="0"/>
          </a:p>
        </p:txBody>
      </p:sp>
      <p:sp>
        <p:nvSpPr>
          <p:cNvPr id="24" name="Shape 19"/>
          <p:cNvSpPr/>
          <p:nvPr/>
        </p:nvSpPr>
        <p:spPr>
          <a:xfrm>
            <a:off x="548640" y="4078224"/>
            <a:ext cx="5440680" cy="1170432"/>
          </a:xfrm>
          <a:prstGeom prst="roundRect">
            <a:avLst>
              <a:gd name="adj" fmla="val 4688"/>
            </a:avLst>
          </a:prstGeom>
          <a:solidFill>
            <a:srgbClr val="F3F7FC"/>
          </a:solidFill>
          <a:ln w="12700">
            <a:solidFill>
              <a:srgbClr val="C7D5EC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768096" y="4407408"/>
            <a:ext cx="512064" cy="512064"/>
          </a:xfrm>
          <a:prstGeom prst="ellipse">
            <a:avLst/>
          </a:prstGeom>
          <a:solidFill>
            <a:srgbClr val="1F3B73"/>
          </a:solidFill>
          <a:ln/>
        </p:spPr>
      </p:sp>
      <p:sp>
        <p:nvSpPr>
          <p:cNvPr id="26" name="Text 21"/>
          <p:cNvSpPr/>
          <p:nvPr/>
        </p:nvSpPr>
        <p:spPr>
          <a:xfrm>
            <a:off x="768096" y="44074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2"/>
          <p:cNvSpPr/>
          <p:nvPr/>
        </p:nvSpPr>
        <p:spPr>
          <a:xfrm>
            <a:off x="1463040" y="4078224"/>
            <a:ext cx="434340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Standardised JSON output with consistent schemas</a:t>
            </a:r>
            <a:endParaRPr lang="en-US" sz="1350" dirty="0"/>
          </a:p>
        </p:txBody>
      </p:sp>
      <p:sp>
        <p:nvSpPr>
          <p:cNvPr id="28" name="Shape 23"/>
          <p:cNvSpPr/>
          <p:nvPr/>
        </p:nvSpPr>
        <p:spPr>
          <a:xfrm>
            <a:off x="6172200" y="4078224"/>
            <a:ext cx="5440680" cy="1170432"/>
          </a:xfrm>
          <a:prstGeom prst="roundRect">
            <a:avLst>
              <a:gd name="adj" fmla="val 4688"/>
            </a:avLst>
          </a:prstGeom>
          <a:solidFill>
            <a:srgbClr val="F3F7FC"/>
          </a:solidFill>
          <a:ln w="12700">
            <a:solidFill>
              <a:srgbClr val="C7D5EC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6391656" y="4407408"/>
            <a:ext cx="512064" cy="512064"/>
          </a:xfrm>
          <a:prstGeom prst="ellipse">
            <a:avLst/>
          </a:prstGeom>
          <a:solidFill>
            <a:srgbClr val="1F3B73"/>
          </a:solidFill>
          <a:ln/>
        </p:spPr>
      </p:sp>
      <p:sp>
        <p:nvSpPr>
          <p:cNvPr id="30" name="Text 25"/>
          <p:cNvSpPr/>
          <p:nvPr/>
        </p:nvSpPr>
        <p:spPr>
          <a:xfrm>
            <a:off x="6391656" y="44074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31" name="Text 26"/>
          <p:cNvSpPr/>
          <p:nvPr/>
        </p:nvSpPr>
        <p:spPr>
          <a:xfrm>
            <a:off x="7086600" y="4078224"/>
            <a:ext cx="434340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CI/CD and monitoring integration</a:t>
            </a:r>
            <a:endParaRPr lang="en-US" sz="1350" dirty="0"/>
          </a:p>
        </p:txBody>
      </p:sp>
      <p:sp>
        <p:nvSpPr>
          <p:cNvPr id="32" name="Text 27"/>
          <p:cNvSpPr/>
          <p:nvPr/>
        </p:nvSpPr>
        <p:spPr>
          <a:xfrm>
            <a:off x="548640" y="54406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Secondary, forward-looking objective: explore knowledge distillation for efficient domain-specific inference.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itle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8412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91440"/>
            <a:ext cx="10424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— Five Phases</a:t>
            </a:r>
            <a:endParaRPr lang="en-US" sz="2300" dirty="0"/>
          </a:p>
        </p:txBody>
      </p:sp>
      <p:pic>
        <p:nvPicPr>
          <p:cNvPr id="4" name="Image 1" descr="footerb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55664"/>
            <a:ext cx="12191695" cy="40233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20040" y="6455664"/>
            <a:ext cx="5486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Computer Engineering</a:t>
            </a:r>
            <a:endParaRPr lang="en-US" sz="1050" dirty="0"/>
          </a:p>
        </p:txBody>
      </p:sp>
      <p:sp>
        <p:nvSpPr>
          <p:cNvPr id="6" name="Text 2"/>
          <p:cNvSpPr/>
          <p:nvPr/>
        </p:nvSpPr>
        <p:spPr>
          <a:xfrm>
            <a:off x="10637215" y="6455664"/>
            <a:ext cx="1234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30</a:t>
            </a:r>
            <a:endParaRPr lang="en-US" sz="1050" dirty="0"/>
          </a:p>
        </p:txBody>
      </p:sp>
      <p:pic>
        <p:nvPicPr>
          <p:cNvPr id="7" name="Image 2" descr="cres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8463" y="5852160"/>
            <a:ext cx="457200" cy="54864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548640" y="1828800"/>
            <a:ext cx="2008022" cy="1828800"/>
          </a:xfrm>
          <a:prstGeom prst="roundRect">
            <a:avLst>
              <a:gd name="adj" fmla="val 3000"/>
            </a:avLst>
          </a:prstGeom>
          <a:solidFill>
            <a:srgbClr val="EAF1FB"/>
          </a:solidFill>
          <a:ln w="12700">
            <a:solidFill>
              <a:srgbClr val="3E6DB5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548640" y="1938528"/>
            <a:ext cx="200802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012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</a:t>
            </a:r>
            <a:endParaRPr lang="en-US" sz="1250" dirty="0"/>
          </a:p>
        </p:txBody>
      </p:sp>
      <p:sp>
        <p:nvSpPr>
          <p:cNvPr id="10" name="Text 5"/>
          <p:cNvSpPr/>
          <p:nvPr/>
        </p:nvSpPr>
        <p:spPr>
          <a:xfrm>
            <a:off x="621792" y="2231136"/>
            <a:ext cx="186171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B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Infrastructure</a:t>
            </a:r>
            <a:endParaRPr lang="en-US" sz="1300" dirty="0"/>
          </a:p>
        </p:txBody>
      </p:sp>
      <p:sp>
        <p:nvSpPr>
          <p:cNvPr id="11" name="Text 6"/>
          <p:cNvSpPr/>
          <p:nvPr/>
        </p:nvSpPr>
        <p:spPr>
          <a:xfrm>
            <a:off x="640080" y="2670048"/>
            <a:ext cx="182514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8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onboarding, IAM, CI/CD, Agile setup</a:t>
            </a:r>
            <a:endParaRPr lang="en-US" sz="1080" dirty="0"/>
          </a:p>
        </p:txBody>
      </p:sp>
      <p:sp>
        <p:nvSpPr>
          <p:cNvPr id="12" name="Text 7"/>
          <p:cNvSpPr/>
          <p:nvPr/>
        </p:nvSpPr>
        <p:spPr>
          <a:xfrm>
            <a:off x="2538374" y="1828800"/>
            <a:ext cx="25603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E6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3" name="Shape 8"/>
          <p:cNvSpPr/>
          <p:nvPr/>
        </p:nvSpPr>
        <p:spPr>
          <a:xfrm>
            <a:off x="2812694" y="1828800"/>
            <a:ext cx="2008022" cy="1828800"/>
          </a:xfrm>
          <a:prstGeom prst="roundRect">
            <a:avLst>
              <a:gd name="adj" fmla="val 3000"/>
            </a:avLst>
          </a:prstGeom>
          <a:solidFill>
            <a:srgbClr val="EAF1FB"/>
          </a:solidFill>
          <a:ln w="12700">
            <a:solidFill>
              <a:srgbClr val="3E6DB5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2812694" y="1938528"/>
            <a:ext cx="200802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012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2885846" y="2231136"/>
            <a:ext cx="186171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B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 Pipeline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2904134" y="2670048"/>
            <a:ext cx="182514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8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→ Lambda → Glue ETL orchestration</a:t>
            </a:r>
            <a:endParaRPr lang="en-US" sz="1080" dirty="0"/>
          </a:p>
        </p:txBody>
      </p:sp>
      <p:sp>
        <p:nvSpPr>
          <p:cNvPr id="17" name="Text 12"/>
          <p:cNvSpPr/>
          <p:nvPr/>
        </p:nvSpPr>
        <p:spPr>
          <a:xfrm>
            <a:off x="4802429" y="1828800"/>
            <a:ext cx="25603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E6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8" name="Shape 13"/>
          <p:cNvSpPr/>
          <p:nvPr/>
        </p:nvSpPr>
        <p:spPr>
          <a:xfrm>
            <a:off x="5076749" y="1828800"/>
            <a:ext cx="2008022" cy="1828800"/>
          </a:xfrm>
          <a:prstGeom prst="roundRect">
            <a:avLst>
              <a:gd name="adj" fmla="val 3000"/>
            </a:avLst>
          </a:prstGeom>
          <a:solidFill>
            <a:srgbClr val="EAF1FB"/>
          </a:solidFill>
          <a:ln w="12700">
            <a:solidFill>
              <a:srgbClr val="3E6DB5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5076749" y="1938528"/>
            <a:ext cx="200802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012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3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5149901" y="2231136"/>
            <a:ext cx="186171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B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Intelligent Parsing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5168189" y="2670048"/>
            <a:ext cx="182514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8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Textract + VLM, table detect, JSON</a:t>
            </a:r>
            <a:endParaRPr lang="en-US" sz="1080" dirty="0"/>
          </a:p>
        </p:txBody>
      </p:sp>
      <p:sp>
        <p:nvSpPr>
          <p:cNvPr id="22" name="Text 17"/>
          <p:cNvSpPr/>
          <p:nvPr/>
        </p:nvSpPr>
        <p:spPr>
          <a:xfrm>
            <a:off x="7066483" y="1828800"/>
            <a:ext cx="25603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E6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3" name="Shape 18"/>
          <p:cNvSpPr/>
          <p:nvPr/>
        </p:nvSpPr>
        <p:spPr>
          <a:xfrm>
            <a:off x="7340803" y="1828800"/>
            <a:ext cx="2008022" cy="1828800"/>
          </a:xfrm>
          <a:prstGeom prst="roundRect">
            <a:avLst>
              <a:gd name="adj" fmla="val 3000"/>
            </a:avLst>
          </a:prstGeom>
          <a:solidFill>
            <a:srgbClr val="EAF1FB"/>
          </a:solidFill>
          <a:ln w="12700">
            <a:solidFill>
              <a:srgbClr val="3E6DB5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7340803" y="1938528"/>
            <a:ext cx="200802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012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4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7413955" y="2231136"/>
            <a:ext cx="186171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B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7432243" y="2670048"/>
            <a:ext cx="182514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8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Precision, Recall, Jaccard, self-healing</a:t>
            </a:r>
            <a:endParaRPr lang="en-US" sz="1080" dirty="0"/>
          </a:p>
        </p:txBody>
      </p:sp>
      <p:sp>
        <p:nvSpPr>
          <p:cNvPr id="27" name="Text 22"/>
          <p:cNvSpPr/>
          <p:nvPr/>
        </p:nvSpPr>
        <p:spPr>
          <a:xfrm>
            <a:off x="9330538" y="1828800"/>
            <a:ext cx="25603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E6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8" name="Shape 23"/>
          <p:cNvSpPr/>
          <p:nvPr/>
        </p:nvSpPr>
        <p:spPr>
          <a:xfrm>
            <a:off x="9604858" y="1828800"/>
            <a:ext cx="2008022" cy="1828800"/>
          </a:xfrm>
          <a:prstGeom prst="roundRect">
            <a:avLst>
              <a:gd name="adj" fmla="val 3000"/>
            </a:avLst>
          </a:prstGeom>
          <a:solidFill>
            <a:srgbClr val="EAF1FB"/>
          </a:solidFill>
          <a:ln w="12700">
            <a:solidFill>
              <a:srgbClr val="3E6DB5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9604858" y="1938528"/>
            <a:ext cx="200802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012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5</a:t>
            </a:r>
            <a:endParaRPr lang="en-US" sz="1250" dirty="0"/>
          </a:p>
        </p:txBody>
      </p:sp>
      <p:sp>
        <p:nvSpPr>
          <p:cNvPr id="30" name="Text 25"/>
          <p:cNvSpPr/>
          <p:nvPr/>
        </p:nvSpPr>
        <p:spPr>
          <a:xfrm>
            <a:off x="9678010" y="2231136"/>
            <a:ext cx="186171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B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Enhancement</a:t>
            </a:r>
            <a:endParaRPr lang="en-US" sz="1300" dirty="0"/>
          </a:p>
        </p:txBody>
      </p:sp>
      <p:sp>
        <p:nvSpPr>
          <p:cNvPr id="31" name="Text 26"/>
          <p:cNvSpPr/>
          <p:nvPr/>
        </p:nvSpPr>
        <p:spPr>
          <a:xfrm>
            <a:off x="9696298" y="2670048"/>
            <a:ext cx="182514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8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distillation (explore)</a:t>
            </a:r>
            <a:endParaRPr lang="en-US" sz="1080" dirty="0"/>
          </a:p>
        </p:txBody>
      </p:sp>
      <p:sp>
        <p:nvSpPr>
          <p:cNvPr id="32" name="Shape 27"/>
          <p:cNvSpPr/>
          <p:nvPr/>
        </p:nvSpPr>
        <p:spPr>
          <a:xfrm>
            <a:off x="548640" y="4297680"/>
            <a:ext cx="11064240" cy="1005840"/>
          </a:xfrm>
          <a:prstGeom prst="roundRect">
            <a:avLst>
              <a:gd name="adj" fmla="val 5455"/>
            </a:avLst>
          </a:prstGeom>
          <a:solidFill>
            <a:srgbClr val="EAF1FB"/>
          </a:solidFill>
          <a:ln w="12700">
            <a:solidFill>
              <a:srgbClr val="3E6DB5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822960" y="43891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450" b="1" dirty="0">
                <a:solidFill>
                  <a:srgbClr val="1F3B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core innovation is a template-free extraction engine: rather than a parser per document type, a Visual Language Model infers each page's structure, anchored and validated by a reliable OCR baseline.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itle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8412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91440"/>
            <a:ext cx="10424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2300" dirty="0"/>
          </a:p>
        </p:txBody>
      </p:sp>
      <p:pic>
        <p:nvPicPr>
          <p:cNvPr id="4" name="Image 1" descr="footerb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55664"/>
            <a:ext cx="12191695" cy="40233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20040" y="6455664"/>
            <a:ext cx="5486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Computer Engineering</a:t>
            </a:r>
            <a:endParaRPr lang="en-US" sz="1050" dirty="0"/>
          </a:p>
        </p:txBody>
      </p:sp>
      <p:sp>
        <p:nvSpPr>
          <p:cNvPr id="6" name="Text 2"/>
          <p:cNvSpPr/>
          <p:nvPr/>
        </p:nvSpPr>
        <p:spPr>
          <a:xfrm>
            <a:off x="10637215" y="6455664"/>
            <a:ext cx="1234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30</a:t>
            </a:r>
            <a:endParaRPr lang="en-US" sz="1050" dirty="0"/>
          </a:p>
        </p:txBody>
      </p:sp>
      <p:pic>
        <p:nvPicPr>
          <p:cNvPr id="7" name="Image 2" descr="cres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8463" y="5852160"/>
            <a:ext cx="457200" cy="548640"/>
          </a:xfrm>
          <a:prstGeom prst="rect">
            <a:avLst/>
          </a:prstGeom>
        </p:spPr>
      </p:pic>
      <p:pic>
        <p:nvPicPr>
          <p:cNvPr id="8" name="Image 3" descr="fig_parser_arc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6120" y="960120"/>
            <a:ext cx="4892040" cy="539496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457200" y="1371600"/>
            <a:ext cx="27432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and template-free</a:t>
            </a:r>
            <a:endParaRPr lang="en-US" sz="1250" dirty="0"/>
          </a:p>
          <a:p>
            <a:pPr marL="177800" indent="-1778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+ page images feed the VLM</a:t>
            </a:r>
            <a:endParaRPr lang="en-US" sz="1250" dirty="0"/>
          </a:p>
          <a:p>
            <a:pPr marL="177800" indent="-1778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VLM passes: schema, then data</a:t>
            </a:r>
            <a:endParaRPr lang="en-US" sz="1250" dirty="0"/>
          </a:p>
          <a:p>
            <a:pPr marL="177800" indent="-1778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page scored and self-healed</a:t>
            </a:r>
            <a:endParaRPr lang="en-US" sz="1250" dirty="0"/>
          </a:p>
          <a:p>
            <a:pPr marL="177800" indent="-1778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Merge, flag, refine → clean JSON</a:t>
            </a:r>
            <a:endParaRPr lang="en-US" sz="1250" dirty="0"/>
          </a:p>
        </p:txBody>
      </p:sp>
      <p:sp>
        <p:nvSpPr>
          <p:cNvPr id="10" name="Shape 4"/>
          <p:cNvSpPr/>
          <p:nvPr/>
        </p:nvSpPr>
        <p:spPr>
          <a:xfrm>
            <a:off x="8778240" y="1371600"/>
            <a:ext cx="2926080" cy="4572000"/>
          </a:xfrm>
          <a:prstGeom prst="roundRect">
            <a:avLst>
              <a:gd name="adj" fmla="val 1875"/>
            </a:avLst>
          </a:prstGeom>
          <a:solidFill>
            <a:srgbClr val="F3F7FC"/>
          </a:solidFill>
          <a:ln w="12700">
            <a:solidFill>
              <a:srgbClr val="C7D5EC"/>
            </a:solidFill>
            <a:prstDash val="solid"/>
          </a:ln>
        </p:spPr>
      </p:sp>
      <p:sp>
        <p:nvSpPr>
          <p:cNvPr id="11" name="Text 5"/>
          <p:cNvSpPr/>
          <p:nvPr/>
        </p:nvSpPr>
        <p:spPr>
          <a:xfrm>
            <a:off x="9015984" y="1499616"/>
            <a:ext cx="25054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B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 to S3</a:t>
            </a:r>
            <a:endParaRPr lang="en-US" sz="1450" dirty="0"/>
          </a:p>
        </p:txBody>
      </p:sp>
      <p:sp>
        <p:nvSpPr>
          <p:cNvPr id="12" name="Text 6"/>
          <p:cNvSpPr/>
          <p:nvPr/>
        </p:nvSpPr>
        <p:spPr>
          <a:xfrm>
            <a:off x="9015984" y="1920240"/>
            <a:ext cx="2468880" cy="3913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52400" indent="-1524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Organized JSON</a:t>
            </a:r>
            <a:endParaRPr lang="en-US" sz="1250" dirty="0"/>
          </a:p>
          <a:p>
            <a:pPr algn="l" marL="152400" indent="-1524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Deep-merged JSON</a:t>
            </a:r>
            <a:endParaRPr lang="en-US" sz="1250" dirty="0"/>
          </a:p>
          <a:p>
            <a:pPr algn="l" marL="152400" indent="-1524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Refined JSON + CSV</a:t>
            </a:r>
            <a:endParaRPr lang="en-US" sz="1250" dirty="0"/>
          </a:p>
          <a:p>
            <a:pPr algn="l" marL="152400" indent="-1524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 &amp; flagging reports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itle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8412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91440"/>
            <a:ext cx="10424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 &amp; 2 — OCR and VLM Extraction</a:t>
            </a:r>
            <a:endParaRPr lang="en-US" sz="2300" dirty="0"/>
          </a:p>
        </p:txBody>
      </p:sp>
      <p:pic>
        <p:nvPicPr>
          <p:cNvPr id="4" name="Image 1" descr="footerb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55664"/>
            <a:ext cx="12191695" cy="40233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20040" y="6455664"/>
            <a:ext cx="5486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Computer Engineering</a:t>
            </a:r>
            <a:endParaRPr lang="en-US" sz="1050" dirty="0"/>
          </a:p>
        </p:txBody>
      </p:sp>
      <p:sp>
        <p:nvSpPr>
          <p:cNvPr id="6" name="Text 2"/>
          <p:cNvSpPr/>
          <p:nvPr/>
        </p:nvSpPr>
        <p:spPr>
          <a:xfrm>
            <a:off x="10637215" y="6455664"/>
            <a:ext cx="1234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30</a:t>
            </a:r>
            <a:endParaRPr lang="en-US" sz="1050" dirty="0"/>
          </a:p>
        </p:txBody>
      </p:sp>
      <p:pic>
        <p:nvPicPr>
          <p:cNvPr id="7" name="Image 2" descr="cres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8463" y="5852160"/>
            <a:ext cx="457200" cy="54864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548640" y="1325880"/>
            <a:ext cx="5440680" cy="2743200"/>
          </a:xfrm>
          <a:prstGeom prst="roundRect">
            <a:avLst>
              <a:gd name="adj" fmla="val 2000"/>
            </a:avLst>
          </a:prstGeom>
          <a:solidFill>
            <a:srgbClr val="F3F7FC"/>
          </a:solidFill>
          <a:ln w="12700">
            <a:solidFill>
              <a:srgbClr val="C7D5EC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786384" y="1453896"/>
            <a:ext cx="50200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B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 · OCR + rendering</a:t>
            </a:r>
            <a:endParaRPr lang="en-US" sz="1450" dirty="0"/>
          </a:p>
        </p:txBody>
      </p:sp>
      <p:sp>
        <p:nvSpPr>
          <p:cNvPr id="10" name="Text 5"/>
          <p:cNvSpPr/>
          <p:nvPr/>
        </p:nvSpPr>
        <p:spPr>
          <a:xfrm>
            <a:off x="786384" y="1874520"/>
            <a:ext cx="4983480" cy="2084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Textract: tables, key-value pairs, text lines</a:t>
            </a:r>
            <a:endParaRPr lang="en-US" sz="1350" dirty="0"/>
          </a:p>
          <a:p>
            <a:pPr algn="l" marL="177800" indent="-1778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Multi-page table continuation detection</a:t>
            </a:r>
            <a:endParaRPr lang="en-US" sz="1350" dirty="0"/>
          </a:p>
          <a:p>
            <a:pPr algn="l" marL="177800" indent="-1778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page also rendered to a 200-DPI image</a:t>
            </a:r>
            <a:endParaRPr lang="en-US" sz="1350" dirty="0"/>
          </a:p>
          <a:p>
            <a:pPr algn="l" marL="177800" indent="-1778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Textract output = interpretation-free ground truth</a:t>
            </a:r>
            <a:endParaRPr lang="en-US" sz="1350" dirty="0"/>
          </a:p>
        </p:txBody>
      </p:sp>
      <p:sp>
        <p:nvSpPr>
          <p:cNvPr id="11" name="Shape 6"/>
          <p:cNvSpPr/>
          <p:nvPr/>
        </p:nvSpPr>
        <p:spPr>
          <a:xfrm>
            <a:off x="6172200" y="1325880"/>
            <a:ext cx="5440680" cy="2743200"/>
          </a:xfrm>
          <a:prstGeom prst="roundRect">
            <a:avLst>
              <a:gd name="adj" fmla="val 2000"/>
            </a:avLst>
          </a:prstGeom>
          <a:solidFill>
            <a:srgbClr val="F3F7FC"/>
          </a:solidFill>
          <a:ln w="12700">
            <a:solidFill>
              <a:srgbClr val="C7D5EC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6409944" y="1453896"/>
            <a:ext cx="50200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B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 · VLM (two passes)</a:t>
            </a:r>
            <a:endParaRPr lang="en-US" sz="1450" dirty="0"/>
          </a:p>
        </p:txBody>
      </p:sp>
      <p:sp>
        <p:nvSpPr>
          <p:cNvPr id="13" name="Text 8"/>
          <p:cNvSpPr/>
          <p:nvPr/>
        </p:nvSpPr>
        <p:spPr>
          <a:xfrm>
            <a:off x="6409944" y="1874520"/>
            <a:ext cx="4983480" cy="2084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1 — generate a JSON schema per page</a:t>
            </a:r>
            <a:endParaRPr lang="en-US" sz="1350" dirty="0"/>
          </a:p>
          <a:p>
            <a:pPr algn="l" marL="177800" indent="-1778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multi-row headers, timepoints, continuations</a:t>
            </a:r>
            <a:endParaRPr lang="en-US" sz="1350" dirty="0"/>
          </a:p>
          <a:p>
            <a:pPr algn="l" marL="177800" indent="-1778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2 — populate the schema with values</a:t>
            </a:r>
            <a:endParaRPr lang="en-US" sz="1350" dirty="0"/>
          </a:p>
          <a:p>
            <a:pPr algn="l" marL="177800" indent="-1778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chunking; handwriting flagged</a:t>
            </a:r>
            <a:endParaRPr lang="en-US" sz="1350" dirty="0"/>
          </a:p>
        </p:txBody>
      </p:sp>
      <p:sp>
        <p:nvSpPr>
          <p:cNvPr id="14" name="Shape 9"/>
          <p:cNvSpPr/>
          <p:nvPr/>
        </p:nvSpPr>
        <p:spPr>
          <a:xfrm>
            <a:off x="548640" y="4297680"/>
            <a:ext cx="11064240" cy="1005840"/>
          </a:xfrm>
          <a:prstGeom prst="roundRect">
            <a:avLst>
              <a:gd name="adj" fmla="val 5455"/>
            </a:avLst>
          </a:prstGeom>
          <a:solidFill>
            <a:srgbClr val="E7F3EA"/>
          </a:solidFill>
          <a:ln w="12700">
            <a:solidFill>
              <a:srgbClr val="2E7D46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822960" y="43891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450" b="1" dirty="0">
                <a:solidFill>
                  <a:srgbClr val="2E7D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insight: the model must receive the page image, not text alone. Adding image inputs let the VLM exploit visual layout and materially improved extraction quality.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itle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8412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91440"/>
            <a:ext cx="10424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3 — Validation &amp; Self-Healing</a:t>
            </a:r>
            <a:endParaRPr lang="en-US" sz="2300" dirty="0"/>
          </a:p>
        </p:txBody>
      </p:sp>
      <p:pic>
        <p:nvPicPr>
          <p:cNvPr id="4" name="Image 1" descr="footerb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55664"/>
            <a:ext cx="12191695" cy="40233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20040" y="6455664"/>
            <a:ext cx="5486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Computer Engineering</a:t>
            </a:r>
            <a:endParaRPr lang="en-US" sz="1050" dirty="0"/>
          </a:p>
        </p:txBody>
      </p:sp>
      <p:sp>
        <p:nvSpPr>
          <p:cNvPr id="6" name="Text 2"/>
          <p:cNvSpPr/>
          <p:nvPr/>
        </p:nvSpPr>
        <p:spPr>
          <a:xfrm>
            <a:off x="10637215" y="6455664"/>
            <a:ext cx="1234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30</a:t>
            </a:r>
            <a:endParaRPr lang="en-US" sz="1050" dirty="0"/>
          </a:p>
        </p:txBody>
      </p:sp>
      <p:pic>
        <p:nvPicPr>
          <p:cNvPr id="7" name="Image 2" descr="cres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8463" y="5852160"/>
            <a:ext cx="457200" cy="54864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48640" y="1188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3B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metrics</a:t>
            </a:r>
            <a:endParaRPr lang="en-US" sz="1550" dirty="0"/>
          </a:p>
        </p:txBody>
      </p:sp>
      <p:sp>
        <p:nvSpPr>
          <p:cNvPr id="9" name="Shape 4"/>
          <p:cNvSpPr/>
          <p:nvPr/>
        </p:nvSpPr>
        <p:spPr>
          <a:xfrm>
            <a:off x="548640" y="1645920"/>
            <a:ext cx="3529584" cy="1234440"/>
          </a:xfrm>
          <a:prstGeom prst="roundRect">
            <a:avLst>
              <a:gd name="adj" fmla="val 4444"/>
            </a:avLst>
          </a:prstGeom>
          <a:solidFill>
            <a:srgbClr val="EAF1FB"/>
          </a:solidFill>
          <a:ln w="12700">
            <a:solidFill>
              <a:srgbClr val="3E6DB5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548640" y="1792224"/>
            <a:ext cx="35295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B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Precision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548640" y="2267712"/>
            <a:ext cx="35295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/ (TP+FP)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4315968" y="1645920"/>
            <a:ext cx="3529584" cy="1234440"/>
          </a:xfrm>
          <a:prstGeom prst="roundRect">
            <a:avLst>
              <a:gd name="adj" fmla="val 4444"/>
            </a:avLst>
          </a:prstGeom>
          <a:solidFill>
            <a:srgbClr val="EAF1FB"/>
          </a:solidFill>
          <a:ln w="12700">
            <a:solidFill>
              <a:srgbClr val="3E6DB5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4315968" y="1792224"/>
            <a:ext cx="35295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B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4315968" y="2267712"/>
            <a:ext cx="35295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/ (TP+FN)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8083296" y="1645920"/>
            <a:ext cx="3529584" cy="1234440"/>
          </a:xfrm>
          <a:prstGeom prst="roundRect">
            <a:avLst>
              <a:gd name="adj" fmla="val 4444"/>
            </a:avLst>
          </a:prstGeom>
          <a:solidFill>
            <a:srgbClr val="EAF1FB"/>
          </a:solidFill>
          <a:ln w="12700">
            <a:solidFill>
              <a:srgbClr val="3E6DB5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8083296" y="1792224"/>
            <a:ext cx="35295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B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Jaccard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8083296" y="2267712"/>
            <a:ext cx="35295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|A∩B| / |A∪B|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548640" y="31546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3B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Tiered self-healing re-extraction</a:t>
            </a:r>
            <a:endParaRPr lang="en-US" sz="1550" dirty="0"/>
          </a:p>
        </p:txBody>
      </p:sp>
      <p:sp>
        <p:nvSpPr>
          <p:cNvPr id="19" name="Shape 14"/>
          <p:cNvSpPr/>
          <p:nvPr/>
        </p:nvSpPr>
        <p:spPr>
          <a:xfrm>
            <a:off x="548640" y="361188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FBEAEA"/>
          </a:solidFill>
          <a:ln w="12700">
            <a:solidFill>
              <a:srgbClr val="B0121A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777240" y="3611880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012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 &lt; 75%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3291840" y="361188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re-extraction of the missing rows / key-value pairs</a:t>
            </a:r>
            <a:endParaRPr lang="en-US" sz="1350" dirty="0"/>
          </a:p>
        </p:txBody>
      </p:sp>
      <p:sp>
        <p:nvSpPr>
          <p:cNvPr id="22" name="Shape 17"/>
          <p:cNvSpPr/>
          <p:nvPr/>
        </p:nvSpPr>
        <p:spPr>
          <a:xfrm>
            <a:off x="548640" y="438912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FFF6E6"/>
          </a:solidFill>
          <a:ln w="12700">
            <a:solidFill>
              <a:srgbClr val="C9862B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777240" y="4389120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8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75% – 88%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3291840" y="438912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fill directly from the Textract output</a:t>
            </a:r>
            <a:endParaRPr lang="en-US" sz="1350" dirty="0"/>
          </a:p>
        </p:txBody>
      </p:sp>
      <p:sp>
        <p:nvSpPr>
          <p:cNvPr id="25" name="Shape 20"/>
          <p:cNvSpPr/>
          <p:nvPr/>
        </p:nvSpPr>
        <p:spPr>
          <a:xfrm>
            <a:off x="548640" y="516636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E7F3EA"/>
          </a:solidFill>
          <a:ln w="12700">
            <a:solidFill>
              <a:srgbClr val="2E7D46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777240" y="5166360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 &gt; 88%</a:t>
            </a:r>
            <a:endParaRPr lang="en-US" sz="1400" dirty="0"/>
          </a:p>
        </p:txBody>
      </p:sp>
      <p:sp>
        <p:nvSpPr>
          <p:cNvPr id="27" name="Text 22"/>
          <p:cNvSpPr/>
          <p:nvPr/>
        </p:nvSpPr>
        <p:spPr>
          <a:xfrm>
            <a:off x="3291840" y="516636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the page as-is</a:t>
            </a:r>
            <a:endParaRPr lang="en-US" sz="1350" dirty="0"/>
          </a:p>
        </p:txBody>
      </p:sp>
      <p:sp>
        <p:nvSpPr>
          <p:cNvPr id="28" name="Text 23"/>
          <p:cNvSpPr/>
          <p:nvPr/>
        </p:nvSpPr>
        <p:spPr>
          <a:xfrm>
            <a:off x="548640" y="594360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affected pages are reprocessed — never the whole document.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itle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8412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91440"/>
            <a:ext cx="10424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4 — Data Quality &amp; Post-Processing</a:t>
            </a:r>
            <a:endParaRPr lang="en-US" sz="2300" dirty="0"/>
          </a:p>
        </p:txBody>
      </p:sp>
      <p:pic>
        <p:nvPicPr>
          <p:cNvPr id="4" name="Image 1" descr="footerb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55664"/>
            <a:ext cx="12191695" cy="40233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20040" y="6455664"/>
            <a:ext cx="5486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Computer Engineering</a:t>
            </a:r>
            <a:endParaRPr lang="en-US" sz="1050" dirty="0"/>
          </a:p>
        </p:txBody>
      </p:sp>
      <p:sp>
        <p:nvSpPr>
          <p:cNvPr id="6" name="Text 2"/>
          <p:cNvSpPr/>
          <p:nvPr/>
        </p:nvSpPr>
        <p:spPr>
          <a:xfrm>
            <a:off x="10637215" y="6455664"/>
            <a:ext cx="1234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30</a:t>
            </a:r>
            <a:endParaRPr lang="en-US" sz="1050" dirty="0"/>
          </a:p>
        </p:txBody>
      </p:sp>
      <p:pic>
        <p:nvPicPr>
          <p:cNvPr id="7" name="Image 2" descr="cres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8463" y="5852160"/>
            <a:ext cx="457200" cy="54864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48640" y="1188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3B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data-quality checks</a:t>
            </a:r>
            <a:endParaRPr lang="en-US" sz="1550" dirty="0"/>
          </a:p>
        </p:txBody>
      </p:sp>
      <p:sp>
        <p:nvSpPr>
          <p:cNvPr id="9" name="Shape 4"/>
          <p:cNvSpPr/>
          <p:nvPr/>
        </p:nvSpPr>
        <p:spPr>
          <a:xfrm>
            <a:off x="548640" y="1645920"/>
            <a:ext cx="3529584" cy="868680"/>
          </a:xfrm>
          <a:prstGeom prst="roundRect">
            <a:avLst>
              <a:gd name="adj" fmla="val 6316"/>
            </a:avLst>
          </a:prstGeom>
          <a:solidFill>
            <a:srgbClr val="F3F7FC"/>
          </a:solidFill>
          <a:ln w="12700">
            <a:solidFill>
              <a:srgbClr val="C7D5EC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713232" y="1938528"/>
            <a:ext cx="274320" cy="274320"/>
          </a:xfrm>
          <a:prstGeom prst="ellipse">
            <a:avLst/>
          </a:prstGeom>
          <a:solidFill>
            <a:srgbClr val="B0121A"/>
          </a:solidFill>
          <a:ln/>
        </p:spPr>
      </p:sp>
      <p:sp>
        <p:nvSpPr>
          <p:cNvPr id="11" name="Text 6"/>
          <p:cNvSpPr/>
          <p:nvPr/>
        </p:nvSpPr>
        <p:spPr>
          <a:xfrm>
            <a:off x="713232" y="19385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1097280" y="1645920"/>
            <a:ext cx="284378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comma normalisation (1,5 → 1.5)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4315968" y="1645920"/>
            <a:ext cx="3529584" cy="868680"/>
          </a:xfrm>
          <a:prstGeom prst="roundRect">
            <a:avLst>
              <a:gd name="adj" fmla="val 6316"/>
            </a:avLst>
          </a:prstGeom>
          <a:solidFill>
            <a:srgbClr val="F3F7FC"/>
          </a:solidFill>
          <a:ln w="12700">
            <a:solidFill>
              <a:srgbClr val="C7D5EC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4480560" y="1938528"/>
            <a:ext cx="274320" cy="274320"/>
          </a:xfrm>
          <a:prstGeom prst="ellipse">
            <a:avLst/>
          </a:prstGeom>
          <a:solidFill>
            <a:srgbClr val="B0121A"/>
          </a:solidFill>
          <a:ln/>
        </p:spPr>
      </p:sp>
      <p:sp>
        <p:nvSpPr>
          <p:cNvPr id="15" name="Text 10"/>
          <p:cNvSpPr/>
          <p:nvPr/>
        </p:nvSpPr>
        <p:spPr>
          <a:xfrm>
            <a:off x="4480560" y="19385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4864608" y="1645920"/>
            <a:ext cx="284378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Plausibility vs spec upper bound (&gt;2×)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8083296" y="1645920"/>
            <a:ext cx="3529584" cy="868680"/>
          </a:xfrm>
          <a:prstGeom prst="roundRect">
            <a:avLst>
              <a:gd name="adj" fmla="val 6316"/>
            </a:avLst>
          </a:prstGeom>
          <a:solidFill>
            <a:srgbClr val="F3F7FC"/>
          </a:solidFill>
          <a:ln w="12700">
            <a:solidFill>
              <a:srgbClr val="C7D5EC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8247888" y="1938528"/>
            <a:ext cx="274320" cy="274320"/>
          </a:xfrm>
          <a:prstGeom prst="ellipse">
            <a:avLst/>
          </a:prstGeom>
          <a:solidFill>
            <a:srgbClr val="B0121A"/>
          </a:solidFill>
          <a:ln/>
        </p:spPr>
      </p:sp>
      <p:sp>
        <p:nvSpPr>
          <p:cNvPr id="19" name="Text 14"/>
          <p:cNvSpPr/>
          <p:nvPr/>
        </p:nvSpPr>
        <p:spPr>
          <a:xfrm>
            <a:off x="8247888" y="19385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8631936" y="1645920"/>
            <a:ext cx="284378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Timepoint consistency (≥10× jumps)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548640" y="2697480"/>
            <a:ext cx="3529584" cy="868680"/>
          </a:xfrm>
          <a:prstGeom prst="roundRect">
            <a:avLst>
              <a:gd name="adj" fmla="val 6316"/>
            </a:avLst>
          </a:prstGeom>
          <a:solidFill>
            <a:srgbClr val="F3F7FC"/>
          </a:solidFill>
          <a:ln w="12700">
            <a:solidFill>
              <a:srgbClr val="C7D5EC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713232" y="2990088"/>
            <a:ext cx="274320" cy="274320"/>
          </a:xfrm>
          <a:prstGeom prst="ellipse">
            <a:avLst/>
          </a:prstGeom>
          <a:solidFill>
            <a:srgbClr val="B0121A"/>
          </a:solidFill>
          <a:ln/>
        </p:spPr>
      </p:sp>
      <p:sp>
        <p:nvSpPr>
          <p:cNvPr id="23" name="Text 18"/>
          <p:cNvSpPr/>
          <p:nvPr/>
        </p:nvSpPr>
        <p:spPr>
          <a:xfrm>
            <a:off x="713232" y="299008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1097280" y="2697480"/>
            <a:ext cx="284378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Handwriting &amp; signature detection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4315968" y="2697480"/>
            <a:ext cx="3529584" cy="868680"/>
          </a:xfrm>
          <a:prstGeom prst="roundRect">
            <a:avLst>
              <a:gd name="adj" fmla="val 6316"/>
            </a:avLst>
          </a:prstGeom>
          <a:solidFill>
            <a:srgbClr val="F3F7FC"/>
          </a:solidFill>
          <a:ln w="12700">
            <a:solidFill>
              <a:srgbClr val="C7D5EC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4480560" y="2990088"/>
            <a:ext cx="274320" cy="274320"/>
          </a:xfrm>
          <a:prstGeom prst="ellipse">
            <a:avLst/>
          </a:prstGeom>
          <a:solidFill>
            <a:srgbClr val="B0121A"/>
          </a:solidFill>
          <a:ln/>
        </p:spPr>
      </p:sp>
      <p:sp>
        <p:nvSpPr>
          <p:cNvPr id="27" name="Text 22"/>
          <p:cNvSpPr/>
          <p:nvPr/>
        </p:nvSpPr>
        <p:spPr>
          <a:xfrm>
            <a:off x="4480560" y="299008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4864608" y="2697480"/>
            <a:ext cx="284378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Out-of-specification values</a:t>
            </a:r>
            <a:endParaRPr lang="en-US" sz="1200" dirty="0"/>
          </a:p>
        </p:txBody>
      </p:sp>
      <p:sp>
        <p:nvSpPr>
          <p:cNvPr id="29" name="Text 24"/>
          <p:cNvSpPr/>
          <p:nvPr/>
        </p:nvSpPr>
        <p:spPr>
          <a:xfrm>
            <a:off x="548640" y="3794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3B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Then: merge · refine · suggest</a:t>
            </a:r>
            <a:endParaRPr lang="en-US" sz="1550" dirty="0"/>
          </a:p>
        </p:txBody>
      </p:sp>
      <p:sp>
        <p:nvSpPr>
          <p:cNvPr id="30" name="Shape 25"/>
          <p:cNvSpPr/>
          <p:nvPr/>
        </p:nvSpPr>
        <p:spPr>
          <a:xfrm>
            <a:off x="548640" y="4251960"/>
            <a:ext cx="3529584" cy="1371600"/>
          </a:xfrm>
          <a:prstGeom prst="roundRect">
            <a:avLst>
              <a:gd name="adj" fmla="val 4000"/>
            </a:avLst>
          </a:prstGeom>
          <a:solidFill>
            <a:srgbClr val="F3F7FC"/>
          </a:solidFill>
          <a:ln w="12700">
            <a:solidFill>
              <a:srgbClr val="C7D5EC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786384" y="4379976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B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merge</a:t>
            </a:r>
            <a:endParaRPr lang="en-US" sz="1450" dirty="0"/>
          </a:p>
        </p:txBody>
      </p:sp>
      <p:sp>
        <p:nvSpPr>
          <p:cNvPr id="32" name="Text 27"/>
          <p:cNvSpPr/>
          <p:nvPr/>
        </p:nvSpPr>
        <p:spPr>
          <a:xfrm>
            <a:off x="786384" y="4800600"/>
            <a:ext cx="3072384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Continuation tables joined in order; per-page results merged into one unified document.</a:t>
            </a:r>
            <a:endParaRPr lang="en-US" sz="1250" dirty="0"/>
          </a:p>
        </p:txBody>
      </p:sp>
      <p:sp>
        <p:nvSpPr>
          <p:cNvPr id="33" name="Shape 28"/>
          <p:cNvSpPr/>
          <p:nvPr/>
        </p:nvSpPr>
        <p:spPr>
          <a:xfrm>
            <a:off x="4315968" y="4251960"/>
            <a:ext cx="3529584" cy="1371600"/>
          </a:xfrm>
          <a:prstGeom prst="roundRect">
            <a:avLst>
              <a:gd name="adj" fmla="val 4000"/>
            </a:avLst>
          </a:prstGeom>
          <a:solidFill>
            <a:srgbClr val="F3F7FC"/>
          </a:solidFill>
          <a:ln w="12700">
            <a:solidFill>
              <a:srgbClr val="C7D5EC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4553712" y="4379976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B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Refinement</a:t>
            </a:r>
            <a:endParaRPr lang="en-US" sz="1450" dirty="0"/>
          </a:p>
        </p:txBody>
      </p:sp>
      <p:sp>
        <p:nvSpPr>
          <p:cNvPr id="35" name="Text 30"/>
          <p:cNvSpPr/>
          <p:nvPr/>
        </p:nvSpPr>
        <p:spPr>
          <a:xfrm>
            <a:off x="4553712" y="4800600"/>
            <a:ext cx="3072384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numerics, ISO dates, and results parsed into value + unit + qualifier.</a:t>
            </a:r>
            <a:endParaRPr lang="en-US" sz="1250" dirty="0"/>
          </a:p>
        </p:txBody>
      </p:sp>
      <p:sp>
        <p:nvSpPr>
          <p:cNvPr id="36" name="Shape 31"/>
          <p:cNvSpPr/>
          <p:nvPr/>
        </p:nvSpPr>
        <p:spPr>
          <a:xfrm>
            <a:off x="8083296" y="4251960"/>
            <a:ext cx="3529584" cy="1371600"/>
          </a:xfrm>
          <a:prstGeom prst="roundRect">
            <a:avLst>
              <a:gd name="adj" fmla="val 4000"/>
            </a:avLst>
          </a:prstGeom>
          <a:solidFill>
            <a:srgbClr val="F3F7FC"/>
          </a:solidFill>
          <a:ln w="12700">
            <a:solidFill>
              <a:srgbClr val="C7D5EC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8321040" y="4379976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B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Suggested schema</a:t>
            </a:r>
            <a:endParaRPr lang="en-US" sz="1450" dirty="0"/>
          </a:p>
        </p:txBody>
      </p:sp>
      <p:sp>
        <p:nvSpPr>
          <p:cNvPr id="38" name="Text 33"/>
          <p:cNvSpPr/>
          <p:nvPr/>
        </p:nvSpPr>
        <p:spPr>
          <a:xfrm>
            <a:off x="8321040" y="4800600"/>
            <a:ext cx="3072384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schema so the LRL team can run in manual mode and pick fields.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itle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8412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91440"/>
            <a:ext cx="10424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 Analysis — Validation Framework</a:t>
            </a:r>
            <a:endParaRPr lang="en-US" sz="2300" dirty="0"/>
          </a:p>
        </p:txBody>
      </p:sp>
      <p:pic>
        <p:nvPicPr>
          <p:cNvPr id="4" name="Image 1" descr="footerb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55664"/>
            <a:ext cx="12191695" cy="40233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20040" y="6455664"/>
            <a:ext cx="5486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Computer Engineering</a:t>
            </a:r>
            <a:endParaRPr lang="en-US" sz="1050" dirty="0"/>
          </a:p>
        </p:txBody>
      </p:sp>
      <p:sp>
        <p:nvSpPr>
          <p:cNvPr id="6" name="Text 2"/>
          <p:cNvSpPr/>
          <p:nvPr/>
        </p:nvSpPr>
        <p:spPr>
          <a:xfrm>
            <a:off x="10637215" y="6455664"/>
            <a:ext cx="1234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30</a:t>
            </a:r>
            <a:endParaRPr lang="en-US" sz="1050" dirty="0"/>
          </a:p>
        </p:txBody>
      </p:sp>
      <p:pic>
        <p:nvPicPr>
          <p:cNvPr id="7" name="Image 2" descr="cres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8463" y="5852160"/>
            <a:ext cx="457200" cy="54864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548640" y="1371600"/>
            <a:ext cx="3200400" cy="1920240"/>
          </a:xfrm>
          <a:prstGeom prst="roundRect">
            <a:avLst>
              <a:gd name="adj" fmla="val 2857"/>
            </a:avLst>
          </a:prstGeom>
          <a:solidFill>
            <a:srgbClr val="EAF1FB"/>
          </a:solidFill>
          <a:ln w="12700">
            <a:solidFill>
              <a:srgbClr val="1F3B73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640080" y="1499616"/>
            <a:ext cx="3017520" cy="10561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3B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~85%</a:t>
            </a:r>
            <a:endParaRPr lang="en-US" sz="4000" dirty="0"/>
          </a:p>
        </p:txBody>
      </p:sp>
      <p:sp>
        <p:nvSpPr>
          <p:cNvPr id="10" name="Text 5"/>
          <p:cNvSpPr/>
          <p:nvPr/>
        </p:nvSpPr>
        <p:spPr>
          <a:xfrm>
            <a:off x="658368" y="2562149"/>
            <a:ext cx="2980944" cy="65288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recall across the test set</a:t>
            </a:r>
            <a:endParaRPr lang="en-US" sz="1150" dirty="0"/>
          </a:p>
        </p:txBody>
      </p:sp>
      <p:sp>
        <p:nvSpPr>
          <p:cNvPr id="11" name="Shape 6"/>
          <p:cNvSpPr/>
          <p:nvPr/>
        </p:nvSpPr>
        <p:spPr>
          <a:xfrm>
            <a:off x="3931920" y="1371600"/>
            <a:ext cx="3200400" cy="1920240"/>
          </a:xfrm>
          <a:prstGeom prst="roundRect">
            <a:avLst>
              <a:gd name="adj" fmla="val 2857"/>
            </a:avLst>
          </a:prstGeom>
          <a:solidFill>
            <a:srgbClr val="EAF1FB"/>
          </a:solidFill>
          <a:ln w="12700">
            <a:solidFill>
              <a:srgbClr val="3E6DB5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4023360" y="1499616"/>
            <a:ext cx="3017520" cy="10561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E6D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4000" dirty="0"/>
          </a:p>
        </p:txBody>
      </p:sp>
      <p:sp>
        <p:nvSpPr>
          <p:cNvPr id="13" name="Text 8"/>
          <p:cNvSpPr/>
          <p:nvPr/>
        </p:nvSpPr>
        <p:spPr>
          <a:xfrm>
            <a:off x="4041648" y="2562149"/>
            <a:ext cx="2980944" cy="65288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representative documents evaluated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7315200" y="1371600"/>
            <a:ext cx="4297680" cy="1920240"/>
          </a:xfrm>
          <a:prstGeom prst="roundRect">
            <a:avLst>
              <a:gd name="adj" fmla="val 2857"/>
            </a:avLst>
          </a:prstGeom>
          <a:solidFill>
            <a:srgbClr val="EAF1FB"/>
          </a:solidFill>
          <a:ln w="12700">
            <a:solidFill>
              <a:srgbClr val="1F3B73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7406640" y="1499616"/>
            <a:ext cx="4114800" cy="10561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3B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Textract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7424928" y="2562149"/>
            <a:ext cx="4078224" cy="65288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output used as the ground-truth reference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548640" y="3566160"/>
            <a:ext cx="11064240" cy="1965960"/>
          </a:xfrm>
          <a:prstGeom prst="roundRect">
            <a:avLst>
              <a:gd name="adj" fmla="val 2791"/>
            </a:avLst>
          </a:prstGeom>
          <a:solidFill>
            <a:srgbClr val="F3F7FC"/>
          </a:solidFill>
          <a:ln w="12700">
            <a:solidFill>
              <a:srgbClr val="C7D5EC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786384" y="3694176"/>
            <a:ext cx="106436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B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786384" y="4114800"/>
            <a:ext cx="10607040" cy="1307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recall — most relevant information is captured consistently across all documents.</a:t>
            </a:r>
            <a:endParaRPr lang="en-US" sz="1350" dirty="0"/>
          </a:p>
          <a:p>
            <a:pPr algn="l" marL="177800" indent="-1778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looks numerically lower, but this is an artefact: the pipeline adds structure (headers, labels, field names) absent from the unstructured Textract reference, so those are counted as false positives.</a:t>
            </a:r>
            <a:endParaRPr lang="en-US" sz="1350" dirty="0"/>
          </a:p>
          <a:p>
            <a:pPr algn="l" marL="177800" indent="-1778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outputs were shared with the LRL team for domain-expert review — confirming real-world usability.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itle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8412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91440"/>
            <a:ext cx="10424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 Analysis — Domain-Expert Evaluation</a:t>
            </a:r>
            <a:endParaRPr lang="en-US" sz="2300" dirty="0"/>
          </a:p>
        </p:txBody>
      </p:sp>
      <p:pic>
        <p:nvPicPr>
          <p:cNvPr id="4" name="Image 1" descr="footerb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55664"/>
            <a:ext cx="12191695" cy="40233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20040" y="6455664"/>
            <a:ext cx="5486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Computer Engineering</a:t>
            </a:r>
            <a:endParaRPr lang="en-US" sz="1050" dirty="0"/>
          </a:p>
        </p:txBody>
      </p:sp>
      <p:sp>
        <p:nvSpPr>
          <p:cNvPr id="6" name="Text 2"/>
          <p:cNvSpPr/>
          <p:nvPr/>
        </p:nvSpPr>
        <p:spPr>
          <a:xfrm>
            <a:off x="10637215" y="6455664"/>
            <a:ext cx="1234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30</a:t>
            </a:r>
            <a:endParaRPr lang="en-US" sz="1050" dirty="0"/>
          </a:p>
        </p:txBody>
      </p:sp>
      <p:pic>
        <p:nvPicPr>
          <p:cNvPr id="7" name="Image 2" descr="cres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8463" y="5852160"/>
            <a:ext cx="457200" cy="54864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548640" y="1325880"/>
            <a:ext cx="2834640" cy="3931920"/>
          </a:xfrm>
          <a:prstGeom prst="roundRect">
            <a:avLst>
              <a:gd name="adj" fmla="val 1935"/>
            </a:avLst>
          </a:prstGeom>
          <a:solidFill>
            <a:srgbClr val="E7F3EA"/>
          </a:solidFill>
          <a:ln w="12700">
            <a:solidFill>
              <a:srgbClr val="2E7D46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640080" y="1453896"/>
            <a:ext cx="2651760" cy="21625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E7D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~95%</a:t>
            </a:r>
            <a:endParaRPr lang="en-US" sz="4000" dirty="0"/>
          </a:p>
        </p:txBody>
      </p:sp>
      <p:sp>
        <p:nvSpPr>
          <p:cNvPr id="10" name="Text 5"/>
          <p:cNvSpPr/>
          <p:nvPr/>
        </p:nvSpPr>
        <p:spPr>
          <a:xfrm>
            <a:off x="658368" y="3763670"/>
            <a:ext cx="2615184" cy="133685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reported in LRL written feedback</a:t>
            </a:r>
            <a:endParaRPr lang="en-US" sz="1150" dirty="0"/>
          </a:p>
        </p:txBody>
      </p:sp>
      <p:sp>
        <p:nvSpPr>
          <p:cNvPr id="11" name="Shape 6"/>
          <p:cNvSpPr/>
          <p:nvPr/>
        </p:nvSpPr>
        <p:spPr>
          <a:xfrm>
            <a:off x="3611880" y="1325880"/>
            <a:ext cx="3977640" cy="3931920"/>
          </a:xfrm>
          <a:prstGeom prst="roundRect">
            <a:avLst>
              <a:gd name="adj" fmla="val 1395"/>
            </a:avLst>
          </a:prstGeom>
          <a:solidFill>
            <a:srgbClr val="E7F3EA"/>
          </a:solidFill>
          <a:ln w="12700">
            <a:solidFill>
              <a:srgbClr val="2E7D46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3849624" y="1453896"/>
            <a:ext cx="35570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E7D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Strengths confirmed</a:t>
            </a:r>
            <a:endParaRPr lang="en-US" sz="1450" dirty="0"/>
          </a:p>
        </p:txBody>
      </p:sp>
      <p:sp>
        <p:nvSpPr>
          <p:cNvPr id="13" name="Text 8"/>
          <p:cNvSpPr/>
          <p:nvPr/>
        </p:nvSpPr>
        <p:spPr>
          <a:xfrm>
            <a:off x="3849624" y="1874520"/>
            <a:ext cx="3520440" cy="3273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52400" indent="-1524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value-capture rate across the corpus</a:t>
            </a:r>
            <a:endParaRPr lang="en-US" sz="1250" dirty="0"/>
          </a:p>
          <a:p>
            <a:pPr algn="l" marL="152400" indent="-1524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Per-page quality scoring — a key strength</a:t>
            </a:r>
            <a:endParaRPr lang="en-US" sz="1250" dirty="0"/>
          </a:p>
          <a:p>
            <a:pPr algn="l" marL="152400" indent="-1524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PDFs scored consistently well</a:t>
            </a:r>
            <a:endParaRPr lang="en-US" sz="1250" dirty="0"/>
          </a:p>
          <a:p>
            <a:pPr algn="l" marL="152400" indent="-1524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conditions correctly separated</a:t>
            </a:r>
            <a:endParaRPr lang="en-US" sz="1250" dirty="0"/>
          </a:p>
          <a:p>
            <a:pPr algn="l" marL="152400" indent="-1524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GMP metadata extracted faithfully</a:t>
            </a:r>
            <a:endParaRPr lang="en-US" sz="1250" dirty="0"/>
          </a:p>
          <a:p>
            <a:pPr algn="l" marL="152400" indent="-1524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drives quality, not content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7818120" y="1325880"/>
            <a:ext cx="3794760" cy="3931920"/>
          </a:xfrm>
          <a:prstGeom prst="roundRect">
            <a:avLst>
              <a:gd name="adj" fmla="val 1446"/>
            </a:avLst>
          </a:prstGeom>
          <a:solidFill>
            <a:srgbClr val="FFF6E6"/>
          </a:solidFill>
          <a:ln w="12700">
            <a:solidFill>
              <a:srgbClr val="C9862B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8055864" y="1453896"/>
            <a:ext cx="33741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98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Improvement areas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8055864" y="1874520"/>
            <a:ext cx="3337560" cy="3273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52400" indent="-1524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accuracy on scanned documents</a:t>
            </a:r>
            <a:endParaRPr lang="en-US" sz="1250" dirty="0"/>
          </a:p>
          <a:p>
            <a:pPr algn="l" marL="152400" indent="-1524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consistency across pages/files</a:t>
            </a:r>
            <a:endParaRPr lang="en-US" sz="1250" dirty="0"/>
          </a:p>
          <a:p>
            <a:pPr algn="l" marL="152400" indent="-1524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Multi-page table merge completeness</a:t>
            </a:r>
            <a:endParaRPr lang="en-US" sz="1250" dirty="0"/>
          </a:p>
          <a:p>
            <a:pPr algn="l" marL="152400" indent="-1524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Character-level accuracy in identifiers</a:t>
            </a:r>
            <a:endParaRPr lang="en-US" sz="1250" dirty="0"/>
          </a:p>
          <a:p>
            <a:pPr algn="l" marL="152400" indent="-1524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numeric-result parsing</a:t>
            </a:r>
            <a:endParaRPr lang="en-US" sz="1250" dirty="0"/>
          </a:p>
          <a:p>
            <a:pPr algn="l" marL="152400" indent="-1524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Scanned landscape tables hardest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itle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8412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91440"/>
            <a:ext cx="10424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 Analysis — Throughput &amp; Deployment</a:t>
            </a:r>
            <a:endParaRPr lang="en-US" sz="2300" dirty="0"/>
          </a:p>
        </p:txBody>
      </p:sp>
      <p:pic>
        <p:nvPicPr>
          <p:cNvPr id="4" name="Image 1" descr="footerb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55664"/>
            <a:ext cx="12191695" cy="40233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20040" y="6455664"/>
            <a:ext cx="5486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Computer Engineering</a:t>
            </a:r>
            <a:endParaRPr lang="en-US" sz="1050" dirty="0"/>
          </a:p>
        </p:txBody>
      </p:sp>
      <p:sp>
        <p:nvSpPr>
          <p:cNvPr id="6" name="Text 2"/>
          <p:cNvSpPr/>
          <p:nvPr/>
        </p:nvSpPr>
        <p:spPr>
          <a:xfrm>
            <a:off x="10637215" y="6455664"/>
            <a:ext cx="1234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30</a:t>
            </a:r>
            <a:endParaRPr lang="en-US" sz="1050" dirty="0"/>
          </a:p>
        </p:txBody>
      </p:sp>
      <p:pic>
        <p:nvPicPr>
          <p:cNvPr id="7" name="Image 2" descr="cres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8463" y="5852160"/>
            <a:ext cx="457200" cy="54864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548640" y="1371600"/>
            <a:ext cx="3657600" cy="2103120"/>
          </a:xfrm>
          <a:prstGeom prst="roundRect">
            <a:avLst>
              <a:gd name="adj" fmla="val 2609"/>
            </a:avLst>
          </a:prstGeom>
          <a:solidFill>
            <a:srgbClr val="EAF1FB"/>
          </a:solidFill>
          <a:ln w="12700">
            <a:solidFill>
              <a:srgbClr val="1F3B73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640080" y="1499616"/>
            <a:ext cx="3474720" cy="11567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3B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~500</a:t>
            </a:r>
            <a:endParaRPr lang="en-US" sz="4000" dirty="0"/>
          </a:p>
        </p:txBody>
      </p:sp>
      <p:sp>
        <p:nvSpPr>
          <p:cNvPr id="10" name="Text 5"/>
          <p:cNvSpPr/>
          <p:nvPr/>
        </p:nvSpPr>
        <p:spPr>
          <a:xfrm>
            <a:off x="658368" y="2675534"/>
            <a:ext cx="3438144" cy="71506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 in 30–45 min (stress test)</a:t>
            </a:r>
            <a:endParaRPr lang="en-US" sz="1150" dirty="0"/>
          </a:p>
        </p:txBody>
      </p:sp>
      <p:sp>
        <p:nvSpPr>
          <p:cNvPr id="11" name="Shape 6"/>
          <p:cNvSpPr/>
          <p:nvPr/>
        </p:nvSpPr>
        <p:spPr>
          <a:xfrm>
            <a:off x="4389120" y="1371600"/>
            <a:ext cx="3566160" cy="2103120"/>
          </a:xfrm>
          <a:prstGeom prst="roundRect">
            <a:avLst>
              <a:gd name="adj" fmla="val 2609"/>
            </a:avLst>
          </a:prstGeom>
          <a:solidFill>
            <a:srgbClr val="EAF1FB"/>
          </a:solidFill>
          <a:ln w="12700">
            <a:solidFill>
              <a:srgbClr val="3E6DB5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4480560" y="1499616"/>
            <a:ext cx="3383280" cy="11567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E6D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~25</a:t>
            </a:r>
            <a:endParaRPr lang="en-US" sz="4000" dirty="0"/>
          </a:p>
        </p:txBody>
      </p:sp>
      <p:sp>
        <p:nvSpPr>
          <p:cNvPr id="13" name="Text 8"/>
          <p:cNvSpPr/>
          <p:nvPr/>
        </p:nvSpPr>
        <p:spPr>
          <a:xfrm>
            <a:off x="4498848" y="2675534"/>
            <a:ext cx="3346704" cy="71506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workers at peak load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8138160" y="1371600"/>
            <a:ext cx="3474720" cy="2103120"/>
          </a:xfrm>
          <a:prstGeom prst="roundRect">
            <a:avLst>
              <a:gd name="adj" fmla="val 2609"/>
            </a:avLst>
          </a:prstGeom>
          <a:solidFill>
            <a:srgbClr val="EAF1FB"/>
          </a:solidFill>
          <a:ln w="12700">
            <a:solidFill>
              <a:srgbClr val="1F3B73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8229600" y="1499616"/>
            <a:ext cx="3291840" cy="11567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B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S3-triggered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8247888" y="2675534"/>
            <a:ext cx="3255264" cy="71506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automatically on upload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548640" y="3749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3B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 journey</a:t>
            </a:r>
            <a:endParaRPr lang="en-US" sz="1550" dirty="0"/>
          </a:p>
        </p:txBody>
      </p:sp>
      <p:sp>
        <p:nvSpPr>
          <p:cNvPr id="18" name="Shape 13"/>
          <p:cNvSpPr/>
          <p:nvPr/>
        </p:nvSpPr>
        <p:spPr>
          <a:xfrm>
            <a:off x="548640" y="4160520"/>
            <a:ext cx="2574036" cy="1234440"/>
          </a:xfrm>
          <a:prstGeom prst="roundRect">
            <a:avLst>
              <a:gd name="adj" fmla="val 4444"/>
            </a:avLst>
          </a:prstGeom>
          <a:solidFill>
            <a:srgbClr val="EAF1FB"/>
          </a:solidFill>
          <a:ln w="12700">
            <a:solidFill>
              <a:srgbClr val="3E6DB5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621792" y="4306824"/>
            <a:ext cx="24277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B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4764024"/>
            <a:ext cx="2391156" cy="539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8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S3-triggered automation</a:t>
            </a:r>
            <a:endParaRPr lang="en-US" sz="1080" dirty="0"/>
          </a:p>
        </p:txBody>
      </p:sp>
      <p:sp>
        <p:nvSpPr>
          <p:cNvPr id="21" name="Text 16"/>
          <p:cNvSpPr/>
          <p:nvPr/>
        </p:nvSpPr>
        <p:spPr>
          <a:xfrm>
            <a:off x="3104388" y="4160520"/>
            <a:ext cx="25603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E6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2" name="Shape 17"/>
          <p:cNvSpPr/>
          <p:nvPr/>
        </p:nvSpPr>
        <p:spPr>
          <a:xfrm>
            <a:off x="3378708" y="4160520"/>
            <a:ext cx="2574036" cy="1234440"/>
          </a:xfrm>
          <a:prstGeom prst="roundRect">
            <a:avLst>
              <a:gd name="adj" fmla="val 4444"/>
            </a:avLst>
          </a:prstGeom>
          <a:solidFill>
            <a:srgbClr val="EAF1FB"/>
          </a:solidFill>
          <a:ln w="12700">
            <a:solidFill>
              <a:srgbClr val="3E6DB5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3451860" y="4306824"/>
            <a:ext cx="24277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B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 Assurance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3470148" y="4764024"/>
            <a:ext cx="2391156" cy="539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8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issue resolved</a:t>
            </a:r>
            <a:endParaRPr lang="en-US" sz="1080" dirty="0"/>
          </a:p>
        </p:txBody>
      </p:sp>
      <p:sp>
        <p:nvSpPr>
          <p:cNvPr id="25" name="Text 20"/>
          <p:cNvSpPr/>
          <p:nvPr/>
        </p:nvSpPr>
        <p:spPr>
          <a:xfrm>
            <a:off x="5934456" y="4160520"/>
            <a:ext cx="25603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E6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6" name="Shape 21"/>
          <p:cNvSpPr/>
          <p:nvPr/>
        </p:nvSpPr>
        <p:spPr>
          <a:xfrm>
            <a:off x="6208776" y="4160520"/>
            <a:ext cx="2574036" cy="1234440"/>
          </a:xfrm>
          <a:prstGeom prst="roundRect">
            <a:avLst>
              <a:gd name="adj" fmla="val 4444"/>
            </a:avLst>
          </a:prstGeom>
          <a:solidFill>
            <a:srgbClr val="EAF1FB"/>
          </a:solidFill>
          <a:ln w="12700">
            <a:solidFill>
              <a:srgbClr val="3E6DB5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6281928" y="4306824"/>
            <a:ext cx="24277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B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QA-functional + KT</a:t>
            </a:r>
            <a:endParaRPr lang="en-US" sz="1300" dirty="0"/>
          </a:p>
        </p:txBody>
      </p:sp>
      <p:sp>
        <p:nvSpPr>
          <p:cNvPr id="28" name="Text 23"/>
          <p:cNvSpPr/>
          <p:nvPr/>
        </p:nvSpPr>
        <p:spPr>
          <a:xfrm>
            <a:off x="6300216" y="4764024"/>
            <a:ext cx="2391156" cy="539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8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handed to a teammate</a:t>
            </a:r>
            <a:endParaRPr lang="en-US" sz="1080" dirty="0"/>
          </a:p>
        </p:txBody>
      </p:sp>
      <p:sp>
        <p:nvSpPr>
          <p:cNvPr id="29" name="Text 24"/>
          <p:cNvSpPr/>
          <p:nvPr/>
        </p:nvSpPr>
        <p:spPr>
          <a:xfrm>
            <a:off x="8764524" y="4160520"/>
            <a:ext cx="25603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E6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30" name="Shape 25"/>
          <p:cNvSpPr/>
          <p:nvPr/>
        </p:nvSpPr>
        <p:spPr>
          <a:xfrm>
            <a:off x="9038844" y="4160520"/>
            <a:ext cx="2574036" cy="1234440"/>
          </a:xfrm>
          <a:prstGeom prst="roundRect">
            <a:avLst>
              <a:gd name="adj" fmla="val 4444"/>
            </a:avLst>
          </a:prstGeom>
          <a:solidFill>
            <a:srgbClr val="EAF1FB"/>
          </a:solidFill>
          <a:ln w="12700">
            <a:solidFill>
              <a:srgbClr val="3E6DB5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9111996" y="4306824"/>
            <a:ext cx="24277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B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Production</a:t>
            </a:r>
            <a:endParaRPr lang="en-US" sz="1300" dirty="0"/>
          </a:p>
        </p:txBody>
      </p:sp>
      <p:sp>
        <p:nvSpPr>
          <p:cNvPr id="32" name="Text 27"/>
          <p:cNvSpPr/>
          <p:nvPr/>
        </p:nvSpPr>
        <p:spPr>
          <a:xfrm>
            <a:off x="9130284" y="4764024"/>
            <a:ext cx="2391156" cy="539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8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a consuming team</a:t>
            </a:r>
            <a:endParaRPr lang="en-US" sz="108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itle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8412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91440"/>
            <a:ext cx="10424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Additional Contributions</a:t>
            </a:r>
            <a:endParaRPr lang="en-US" sz="2300" dirty="0"/>
          </a:p>
        </p:txBody>
      </p:sp>
      <p:pic>
        <p:nvPicPr>
          <p:cNvPr id="4" name="Image 1" descr="footerb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55664"/>
            <a:ext cx="12191695" cy="40233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20040" y="6455664"/>
            <a:ext cx="5486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Computer Engineering</a:t>
            </a:r>
            <a:endParaRPr lang="en-US" sz="1050" dirty="0"/>
          </a:p>
        </p:txBody>
      </p:sp>
      <p:sp>
        <p:nvSpPr>
          <p:cNvPr id="6" name="Text 2"/>
          <p:cNvSpPr/>
          <p:nvPr/>
        </p:nvSpPr>
        <p:spPr>
          <a:xfrm>
            <a:off x="10637215" y="6455664"/>
            <a:ext cx="1234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30</a:t>
            </a:r>
            <a:endParaRPr lang="en-US" sz="1050" dirty="0"/>
          </a:p>
        </p:txBody>
      </p:sp>
      <p:pic>
        <p:nvPicPr>
          <p:cNvPr id="7" name="Image 2" descr="cres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8463" y="5852160"/>
            <a:ext cx="457200" cy="54864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48640" y="12344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further pieces of work delivered during the internship — all automating manual data-engineering effort and making the platform more observable.</a:t>
            </a:r>
            <a:endParaRPr lang="en-US" sz="1400" dirty="0"/>
          </a:p>
        </p:txBody>
      </p:sp>
      <p:sp>
        <p:nvSpPr>
          <p:cNvPr id="9" name="Shape 4"/>
          <p:cNvSpPr/>
          <p:nvPr/>
        </p:nvSpPr>
        <p:spPr>
          <a:xfrm>
            <a:off x="548640" y="2057400"/>
            <a:ext cx="3529584" cy="3108960"/>
          </a:xfrm>
          <a:prstGeom prst="roundRect">
            <a:avLst>
              <a:gd name="adj" fmla="val 1765"/>
            </a:avLst>
          </a:prstGeom>
          <a:solidFill>
            <a:srgbClr val="F3F7FC"/>
          </a:solidFill>
          <a:ln w="12700">
            <a:solidFill>
              <a:srgbClr val="C7D5EC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1993392" y="2331720"/>
            <a:ext cx="640080" cy="640080"/>
          </a:xfrm>
          <a:prstGeom prst="ellipse">
            <a:avLst/>
          </a:prstGeom>
          <a:solidFill>
            <a:srgbClr val="1F3B73"/>
          </a:solidFill>
          <a:ln/>
        </p:spPr>
      </p:sp>
      <p:sp>
        <p:nvSpPr>
          <p:cNvPr id="11" name="Text 6"/>
          <p:cNvSpPr/>
          <p:nvPr/>
        </p:nvSpPr>
        <p:spPr>
          <a:xfrm>
            <a:off x="1993392" y="2331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731520" y="3108960"/>
            <a:ext cx="316382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1F3B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GA4 Enhancement Pipeline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777240" y="3840480"/>
            <a:ext cx="307238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Characterised and set out a plan to cut web-analytics latency from ~72 hours toward under 4 hours.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4334256" y="2057400"/>
            <a:ext cx="3529584" cy="3108960"/>
          </a:xfrm>
          <a:prstGeom prst="roundRect">
            <a:avLst>
              <a:gd name="adj" fmla="val 1765"/>
            </a:avLst>
          </a:prstGeom>
          <a:solidFill>
            <a:srgbClr val="F3F7FC"/>
          </a:solidFill>
          <a:ln w="12700">
            <a:solidFill>
              <a:srgbClr val="C7D5EC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5779008" y="2331720"/>
            <a:ext cx="640080" cy="640080"/>
          </a:xfrm>
          <a:prstGeom prst="ellipse">
            <a:avLst/>
          </a:prstGeom>
          <a:solidFill>
            <a:srgbClr val="1F3B73"/>
          </a:solidFill>
          <a:ln/>
        </p:spPr>
      </p:sp>
      <p:sp>
        <p:nvSpPr>
          <p:cNvPr id="16" name="Text 11"/>
          <p:cNvSpPr/>
          <p:nvPr/>
        </p:nvSpPr>
        <p:spPr>
          <a:xfrm>
            <a:off x="5779008" y="2331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4517136" y="3108960"/>
            <a:ext cx="316382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1F3B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DLT Config Generator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4562856" y="3840480"/>
            <a:ext cx="307238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autonomous agent that builds a data-load pipeline config from any REST API — hours of work in minutes.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8119872" y="2057400"/>
            <a:ext cx="3529584" cy="3108960"/>
          </a:xfrm>
          <a:prstGeom prst="roundRect">
            <a:avLst>
              <a:gd name="adj" fmla="val 1765"/>
            </a:avLst>
          </a:prstGeom>
          <a:solidFill>
            <a:srgbClr val="F3F7FC"/>
          </a:solidFill>
          <a:ln w="12700">
            <a:solidFill>
              <a:srgbClr val="C7D5EC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564624" y="2331720"/>
            <a:ext cx="640080" cy="640080"/>
          </a:xfrm>
          <a:prstGeom prst="ellipse">
            <a:avLst/>
          </a:prstGeom>
          <a:solidFill>
            <a:srgbClr val="1F3B73"/>
          </a:solidFill>
          <a:ln/>
        </p:spPr>
      </p:sp>
      <p:sp>
        <p:nvSpPr>
          <p:cNvPr id="21" name="Text 16"/>
          <p:cNvSpPr/>
          <p:nvPr/>
        </p:nvSpPr>
        <p:spPr>
          <a:xfrm>
            <a:off x="9564624" y="2331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Text 17"/>
          <p:cNvSpPr/>
          <p:nvPr/>
        </p:nvSpPr>
        <p:spPr>
          <a:xfrm>
            <a:off x="8302752" y="3108960"/>
            <a:ext cx="316382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1F3B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EDB Components Dashboard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8348472" y="3840480"/>
            <a:ext cx="307238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lineage-and-usage dashboard making the platform's reusable components observable.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itle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8412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91440"/>
            <a:ext cx="10424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GA4 Pipeline — Problem &amp; Root Causes</a:t>
            </a:r>
            <a:endParaRPr lang="en-US" sz="2300" dirty="0"/>
          </a:p>
        </p:txBody>
      </p:sp>
      <p:pic>
        <p:nvPicPr>
          <p:cNvPr id="4" name="Image 1" descr="footerb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55664"/>
            <a:ext cx="12191695" cy="40233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20040" y="6455664"/>
            <a:ext cx="5486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Computer Engineering</a:t>
            </a:r>
            <a:endParaRPr lang="en-US" sz="1050" dirty="0"/>
          </a:p>
        </p:txBody>
      </p:sp>
      <p:sp>
        <p:nvSpPr>
          <p:cNvPr id="6" name="Text 2"/>
          <p:cNvSpPr/>
          <p:nvPr/>
        </p:nvSpPr>
        <p:spPr>
          <a:xfrm>
            <a:off x="10637215" y="6455664"/>
            <a:ext cx="1234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30</a:t>
            </a:r>
            <a:endParaRPr lang="en-US" sz="1050" dirty="0"/>
          </a:p>
        </p:txBody>
      </p:sp>
      <p:pic>
        <p:nvPicPr>
          <p:cNvPr id="7" name="Image 2" descr="cres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8463" y="5852160"/>
            <a:ext cx="457200" cy="54864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548640" y="1371600"/>
            <a:ext cx="3017520" cy="1965960"/>
          </a:xfrm>
          <a:prstGeom prst="roundRect">
            <a:avLst>
              <a:gd name="adj" fmla="val 2791"/>
            </a:avLst>
          </a:prstGeom>
          <a:solidFill>
            <a:srgbClr val="FBEAEA"/>
          </a:solidFill>
          <a:ln w="12700">
            <a:solidFill>
              <a:srgbClr val="B0121A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640080" y="1499616"/>
            <a:ext cx="2834640" cy="10812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012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 hrs</a:t>
            </a:r>
            <a:endParaRPr lang="en-US" sz="3000" dirty="0"/>
          </a:p>
        </p:txBody>
      </p:sp>
      <p:sp>
        <p:nvSpPr>
          <p:cNvPr id="10" name="Text 5"/>
          <p:cNvSpPr/>
          <p:nvPr/>
        </p:nvSpPr>
        <p:spPr>
          <a:xfrm>
            <a:off x="658368" y="2590495"/>
            <a:ext cx="2798064" cy="66842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clickstream data was ~3 days stale</a:t>
            </a:r>
            <a:endParaRPr lang="en-US" sz="1150" dirty="0"/>
          </a:p>
        </p:txBody>
      </p:sp>
      <p:sp>
        <p:nvSpPr>
          <p:cNvPr id="11" name="Shape 6"/>
          <p:cNvSpPr/>
          <p:nvPr/>
        </p:nvSpPr>
        <p:spPr>
          <a:xfrm>
            <a:off x="3749040" y="1371600"/>
            <a:ext cx="7863840" cy="1965960"/>
          </a:xfrm>
          <a:prstGeom prst="roundRect">
            <a:avLst>
              <a:gd name="adj" fmla="val 2791"/>
            </a:avLst>
          </a:prstGeom>
          <a:solidFill>
            <a:srgbClr val="F3F7FC"/>
          </a:solidFill>
          <a:ln w="12700">
            <a:solidFill>
              <a:srgbClr val="C7D5EC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3986784" y="1499616"/>
            <a:ext cx="74432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B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</a:t>
            </a:r>
            <a:endParaRPr lang="en-US" sz="1450" dirty="0"/>
          </a:p>
        </p:txBody>
      </p:sp>
      <p:sp>
        <p:nvSpPr>
          <p:cNvPr id="13" name="Text 8"/>
          <p:cNvSpPr/>
          <p:nvPr/>
        </p:nvSpPr>
        <p:spPr>
          <a:xfrm>
            <a:off x="3986784" y="1920240"/>
            <a:ext cx="7406640" cy="1307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Clickstream from ~240 websites flows GA4 → BigQuery → Export Manager → Glue → S3 → Enterprise Data Backbone. Three-day-old data was driving business decisions.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548640" y="3566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3B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Root causes of the delay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548640" y="3977640"/>
            <a:ext cx="110642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waits for BigQuery tables to fully stabilise before exporting (+24–48h).</a:t>
            </a:r>
            <a:endParaRPr lang="en-US" sz="1350" dirty="0"/>
          </a:p>
          <a:p>
            <a:pPr marL="177800" indent="-1778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state management only exports settled tables (+24h).</a:t>
            </a:r>
            <a:endParaRPr lang="en-US" sz="1350" dirty="0"/>
          </a:p>
          <a:p>
            <a:pPr marL="177800" indent="-1778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daily runs operate in a narrow processing window (+24h).</a:t>
            </a:r>
            <a:endParaRPr lang="en-US" sz="1350" dirty="0"/>
          </a:p>
          <a:p>
            <a:pPr marL="177800" indent="-1778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incremental or streaming approach — everything is batch.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itle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8412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91440"/>
            <a:ext cx="10424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GA4 Pipeline — Measured Baseline</a:t>
            </a:r>
            <a:endParaRPr lang="en-US" sz="2300" dirty="0"/>
          </a:p>
        </p:txBody>
      </p:sp>
      <p:pic>
        <p:nvPicPr>
          <p:cNvPr id="4" name="Image 1" descr="footerb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55664"/>
            <a:ext cx="12191695" cy="40233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20040" y="6455664"/>
            <a:ext cx="5486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Computer Engineering</a:t>
            </a:r>
            <a:endParaRPr lang="en-US" sz="1050" dirty="0"/>
          </a:p>
        </p:txBody>
      </p:sp>
      <p:sp>
        <p:nvSpPr>
          <p:cNvPr id="6" name="Text 2"/>
          <p:cNvSpPr/>
          <p:nvPr/>
        </p:nvSpPr>
        <p:spPr>
          <a:xfrm>
            <a:off x="10637215" y="6455664"/>
            <a:ext cx="1234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30</a:t>
            </a:r>
            <a:endParaRPr lang="en-US" sz="1050" dirty="0"/>
          </a:p>
        </p:txBody>
      </p:sp>
      <p:pic>
        <p:nvPicPr>
          <p:cNvPr id="7" name="Image 2" descr="cres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8463" y="5852160"/>
            <a:ext cx="457200" cy="548640"/>
          </a:xfrm>
          <a:prstGeom prst="rect">
            <a:avLst/>
          </a:prstGeom>
        </p:spPr>
      </p:pic>
      <p:pic>
        <p:nvPicPr>
          <p:cNvPr id="8" name="Image 3" descr="fig_ga4_fl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234440"/>
            <a:ext cx="6766560" cy="3474720"/>
          </a:xfrm>
          <a:prstGeom prst="rect">
            <a:avLst/>
          </a:prstGeom>
        </p:spPr>
      </p:pic>
      <p:sp>
        <p:nvSpPr>
          <p:cNvPr id="9" name="Shape 3"/>
          <p:cNvSpPr/>
          <p:nvPr/>
        </p:nvSpPr>
        <p:spPr>
          <a:xfrm>
            <a:off x="7772400" y="1325880"/>
            <a:ext cx="3840480" cy="868680"/>
          </a:xfrm>
          <a:prstGeom prst="roundRect">
            <a:avLst>
              <a:gd name="adj" fmla="val 6316"/>
            </a:avLst>
          </a:prstGeom>
          <a:solidFill>
            <a:srgbClr val="EAF1FB"/>
          </a:solidFill>
          <a:ln w="12700">
            <a:solidFill>
              <a:srgbClr val="3E6DB5"/>
            </a:solidFill>
            <a:prstDash val="solid"/>
          </a:ln>
        </p:spPr>
      </p:sp>
      <p:sp>
        <p:nvSpPr>
          <p:cNvPr id="10" name="Text 4"/>
          <p:cNvSpPr/>
          <p:nvPr/>
        </p:nvSpPr>
        <p:spPr>
          <a:xfrm>
            <a:off x="7909560" y="1325880"/>
            <a:ext cx="1554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B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4.0 d</a:t>
            </a:r>
            <a:endParaRPr lang="en-US" sz="1800" dirty="0"/>
          </a:p>
        </p:txBody>
      </p:sp>
      <p:sp>
        <p:nvSpPr>
          <p:cNvPr id="11" name="Text 5"/>
          <p:cNvSpPr/>
          <p:nvPr/>
        </p:nvSpPr>
        <p:spPr>
          <a:xfrm>
            <a:off x="9464040" y="1325880"/>
            <a:ext cx="2011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lag</a:t>
            </a:r>
            <a:endParaRPr lang="en-US" sz="1250" dirty="0"/>
          </a:p>
        </p:txBody>
      </p:sp>
      <p:sp>
        <p:nvSpPr>
          <p:cNvPr id="12" name="Shape 6"/>
          <p:cNvSpPr/>
          <p:nvPr/>
        </p:nvSpPr>
        <p:spPr>
          <a:xfrm>
            <a:off x="7772400" y="2340864"/>
            <a:ext cx="3840480" cy="868680"/>
          </a:xfrm>
          <a:prstGeom prst="roundRect">
            <a:avLst>
              <a:gd name="adj" fmla="val 6316"/>
            </a:avLst>
          </a:prstGeom>
          <a:solidFill>
            <a:srgbClr val="EAF1FB"/>
          </a:solidFill>
          <a:ln w="12700">
            <a:solidFill>
              <a:srgbClr val="3E6DB5"/>
            </a:solidFill>
            <a:prstDash val="solid"/>
          </a:ln>
        </p:spPr>
      </p:sp>
      <p:sp>
        <p:nvSpPr>
          <p:cNvPr id="13" name="Text 7"/>
          <p:cNvSpPr/>
          <p:nvPr/>
        </p:nvSpPr>
        <p:spPr>
          <a:xfrm>
            <a:off x="7909560" y="2340864"/>
            <a:ext cx="1554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B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72%</a:t>
            </a:r>
            <a:endParaRPr lang="en-US" sz="1800" dirty="0"/>
          </a:p>
        </p:txBody>
      </p:sp>
      <p:sp>
        <p:nvSpPr>
          <p:cNvPr id="14" name="Text 8"/>
          <p:cNvSpPr/>
          <p:nvPr/>
        </p:nvSpPr>
        <p:spPr>
          <a:xfrm>
            <a:off x="9464040" y="2340864"/>
            <a:ext cx="2011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3 days behind</a:t>
            </a:r>
            <a:endParaRPr lang="en-US" sz="1250" dirty="0"/>
          </a:p>
        </p:txBody>
      </p:sp>
      <p:sp>
        <p:nvSpPr>
          <p:cNvPr id="15" name="Shape 9"/>
          <p:cNvSpPr/>
          <p:nvPr/>
        </p:nvSpPr>
        <p:spPr>
          <a:xfrm>
            <a:off x="7772400" y="3355848"/>
            <a:ext cx="3840480" cy="868680"/>
          </a:xfrm>
          <a:prstGeom prst="roundRect">
            <a:avLst>
              <a:gd name="adj" fmla="val 6316"/>
            </a:avLst>
          </a:prstGeom>
          <a:solidFill>
            <a:srgbClr val="EAF1FB"/>
          </a:solidFill>
          <a:ln w="12700">
            <a:solidFill>
              <a:srgbClr val="3E6DB5"/>
            </a:solidFill>
            <a:prstDash val="solid"/>
          </a:ln>
        </p:spPr>
      </p:sp>
      <p:sp>
        <p:nvSpPr>
          <p:cNvPr id="16" name="Text 10"/>
          <p:cNvSpPr/>
          <p:nvPr/>
        </p:nvSpPr>
        <p:spPr>
          <a:xfrm>
            <a:off x="7909560" y="3355848"/>
            <a:ext cx="1554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B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372.7 M</a:t>
            </a:r>
            <a:endParaRPr lang="en-US" sz="1800" dirty="0"/>
          </a:p>
        </p:txBody>
      </p:sp>
      <p:sp>
        <p:nvSpPr>
          <p:cNvPr id="17" name="Text 11"/>
          <p:cNvSpPr/>
          <p:nvPr/>
        </p:nvSpPr>
        <p:spPr>
          <a:xfrm>
            <a:off x="9464040" y="3355848"/>
            <a:ext cx="2011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rows</a:t>
            </a:r>
            <a:endParaRPr lang="en-US" sz="1250" dirty="0"/>
          </a:p>
        </p:txBody>
      </p:sp>
      <p:sp>
        <p:nvSpPr>
          <p:cNvPr id="18" name="Shape 12"/>
          <p:cNvSpPr/>
          <p:nvPr/>
        </p:nvSpPr>
        <p:spPr>
          <a:xfrm>
            <a:off x="7772400" y="4370832"/>
            <a:ext cx="3840480" cy="868680"/>
          </a:xfrm>
          <a:prstGeom prst="roundRect">
            <a:avLst>
              <a:gd name="adj" fmla="val 6316"/>
            </a:avLst>
          </a:prstGeom>
          <a:solidFill>
            <a:srgbClr val="EAF1FB"/>
          </a:solidFill>
          <a:ln w="12700">
            <a:solidFill>
              <a:srgbClr val="3E6DB5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7909560" y="4370832"/>
            <a:ext cx="1554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B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96.3%</a:t>
            </a:r>
            <a:endParaRPr lang="en-US" sz="1800" dirty="0"/>
          </a:p>
        </p:txBody>
      </p:sp>
      <p:sp>
        <p:nvSpPr>
          <p:cNvPr id="20" name="Text 14"/>
          <p:cNvSpPr/>
          <p:nvPr/>
        </p:nvSpPr>
        <p:spPr>
          <a:xfrm>
            <a:off x="9464040" y="4370832"/>
            <a:ext cx="2011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reconciled</a:t>
            </a:r>
            <a:endParaRPr lang="en-US" sz="1250" dirty="0"/>
          </a:p>
        </p:txBody>
      </p:sp>
      <p:sp>
        <p:nvSpPr>
          <p:cNvPr id="21" name="Text 15"/>
          <p:cNvSpPr/>
          <p:nvPr/>
        </p:nvSpPr>
        <p:spPr>
          <a:xfrm>
            <a:off x="640080" y="4983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reconciliation pipeline measured the BigQuery → S3 gap day-by-day and property-by-property over a 161-day window — turning an anecdotal “3 days” into a precise, defensible baseline.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itle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8412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91440"/>
            <a:ext cx="10424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GA4 Pipeline — Solution &amp; Status</a:t>
            </a:r>
            <a:endParaRPr lang="en-US" sz="2300" dirty="0"/>
          </a:p>
        </p:txBody>
      </p:sp>
      <p:pic>
        <p:nvPicPr>
          <p:cNvPr id="4" name="Image 1" descr="footerb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55664"/>
            <a:ext cx="12191695" cy="40233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20040" y="6455664"/>
            <a:ext cx="5486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Computer Engineering</a:t>
            </a:r>
            <a:endParaRPr lang="en-US" sz="1050" dirty="0"/>
          </a:p>
        </p:txBody>
      </p:sp>
      <p:sp>
        <p:nvSpPr>
          <p:cNvPr id="6" name="Text 2"/>
          <p:cNvSpPr/>
          <p:nvPr/>
        </p:nvSpPr>
        <p:spPr>
          <a:xfrm>
            <a:off x="10637215" y="6455664"/>
            <a:ext cx="1234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30</a:t>
            </a:r>
            <a:endParaRPr lang="en-US" sz="1050" dirty="0"/>
          </a:p>
        </p:txBody>
      </p:sp>
      <p:pic>
        <p:nvPicPr>
          <p:cNvPr id="7" name="Image 2" descr="cres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8463" y="5852160"/>
            <a:ext cx="457200" cy="54864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548640" y="1325880"/>
            <a:ext cx="5486400" cy="2834640"/>
          </a:xfrm>
          <a:prstGeom prst="roundRect">
            <a:avLst>
              <a:gd name="adj" fmla="val 1935"/>
            </a:avLst>
          </a:prstGeom>
          <a:solidFill>
            <a:srgbClr val="F3F7FC"/>
          </a:solidFill>
          <a:ln w="12700">
            <a:solidFill>
              <a:srgbClr val="C7D5EC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786384" y="1453896"/>
            <a:ext cx="50657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B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enhancement</a:t>
            </a:r>
            <a:endParaRPr lang="en-US" sz="1450" dirty="0"/>
          </a:p>
        </p:txBody>
      </p:sp>
      <p:sp>
        <p:nvSpPr>
          <p:cNvPr id="10" name="Text 5"/>
          <p:cNvSpPr/>
          <p:nvPr/>
        </p:nvSpPr>
        <p:spPr>
          <a:xfrm>
            <a:off x="786384" y="1874520"/>
            <a:ext cx="5029200" cy="2176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available data incrementally from intraday tables</a:t>
            </a:r>
            <a:endParaRPr lang="en-US" sz="1350" dirty="0"/>
          </a:p>
          <a:p>
            <a:pPr algn="l" marL="177800" indent="-1778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DAG frequency to every few hours</a:t>
            </a:r>
            <a:endParaRPr lang="en-US" sz="1350" dirty="0"/>
          </a:p>
          <a:p>
            <a:pPr algn="l" marL="177800" indent="-1778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Reconcile late-arriving data afterwards</a:t>
            </a:r>
            <a:endParaRPr lang="en-US" sz="1350" dirty="0"/>
          </a:p>
          <a:p>
            <a:pPr algn="l" marL="177800" indent="-1778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under 4 hours — an 18× improvement</a:t>
            </a:r>
            <a:endParaRPr lang="en-US" sz="1350" dirty="0"/>
          </a:p>
        </p:txBody>
      </p:sp>
      <p:sp>
        <p:nvSpPr>
          <p:cNvPr id="11" name="Shape 6"/>
          <p:cNvSpPr/>
          <p:nvPr/>
        </p:nvSpPr>
        <p:spPr>
          <a:xfrm>
            <a:off x="6217920" y="1325880"/>
            <a:ext cx="5394960" cy="2834640"/>
          </a:xfrm>
          <a:prstGeom prst="roundRect">
            <a:avLst>
              <a:gd name="adj" fmla="val 1935"/>
            </a:avLst>
          </a:prstGeom>
          <a:solidFill>
            <a:srgbClr val="F3F7FC"/>
          </a:solidFill>
          <a:ln w="12700">
            <a:solidFill>
              <a:srgbClr val="C7D5EC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6455664" y="1453896"/>
            <a:ext cx="49743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B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Status at end of internship</a:t>
            </a:r>
            <a:endParaRPr lang="en-US" sz="1450" dirty="0"/>
          </a:p>
        </p:txBody>
      </p:sp>
      <p:sp>
        <p:nvSpPr>
          <p:cNvPr id="13" name="Text 8"/>
          <p:cNvSpPr/>
          <p:nvPr/>
        </p:nvSpPr>
        <p:spPr>
          <a:xfrm>
            <a:off x="6455664" y="1874520"/>
            <a:ext cx="4937760" cy="2176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metrics + discrepancy report — complete, running daily</a:t>
            </a:r>
            <a:endParaRPr lang="en-US" sz="1350" dirty="0"/>
          </a:p>
          <a:p>
            <a:pPr algn="l" marL="177800" indent="-1778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Enhancement — designed and ready</a:t>
            </a:r>
            <a:endParaRPr lang="en-US" sz="1350" dirty="0"/>
          </a:p>
          <a:p>
            <a:pPr algn="l" marL="177800" indent="-1778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on repository security-scanning &amp; PR-automation compliance</a:t>
            </a:r>
            <a:endParaRPr lang="en-US" sz="1350" dirty="0"/>
          </a:p>
          <a:p>
            <a:pPr algn="l" marL="177800" indent="-1778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rollout planned for a later quarter</a:t>
            </a:r>
            <a:endParaRPr lang="en-US" sz="1350" dirty="0"/>
          </a:p>
        </p:txBody>
      </p:sp>
      <p:sp>
        <p:nvSpPr>
          <p:cNvPr id="14" name="Shape 9"/>
          <p:cNvSpPr/>
          <p:nvPr/>
        </p:nvSpPr>
        <p:spPr>
          <a:xfrm>
            <a:off x="548640" y="4434840"/>
            <a:ext cx="11064240" cy="1234440"/>
          </a:xfrm>
          <a:prstGeom prst="roundRect">
            <a:avLst>
              <a:gd name="adj" fmla="val 4444"/>
            </a:avLst>
          </a:prstGeom>
          <a:solidFill>
            <a:srgbClr val="E7F3EA"/>
          </a:solidFill>
          <a:ln w="12700">
            <a:solidFill>
              <a:srgbClr val="2E7D46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640080" y="4562856"/>
            <a:ext cx="10881360" cy="6789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7D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 hrs → &lt; 4 hrs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658368" y="5200193"/>
            <a:ext cx="10844784" cy="4197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latency reduction the enhancement is designed to deliver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itle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8412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91440"/>
            <a:ext cx="10424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DLT Config Generator</a:t>
            </a:r>
            <a:endParaRPr lang="en-US" sz="2300" dirty="0"/>
          </a:p>
        </p:txBody>
      </p:sp>
      <p:pic>
        <p:nvPicPr>
          <p:cNvPr id="4" name="Image 1" descr="footerb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55664"/>
            <a:ext cx="12191695" cy="40233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20040" y="6455664"/>
            <a:ext cx="5486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Computer Engineering</a:t>
            </a:r>
            <a:endParaRPr lang="en-US" sz="1050" dirty="0"/>
          </a:p>
        </p:txBody>
      </p:sp>
      <p:sp>
        <p:nvSpPr>
          <p:cNvPr id="6" name="Text 2"/>
          <p:cNvSpPr/>
          <p:nvPr/>
        </p:nvSpPr>
        <p:spPr>
          <a:xfrm>
            <a:off x="10637215" y="6455664"/>
            <a:ext cx="1234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30</a:t>
            </a:r>
            <a:endParaRPr lang="en-US" sz="1050" dirty="0"/>
          </a:p>
        </p:txBody>
      </p:sp>
      <p:pic>
        <p:nvPicPr>
          <p:cNvPr id="7" name="Image 2" descr="cres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8463" y="5852160"/>
            <a:ext cx="457200" cy="54864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48640" y="118872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a data-load (dlt) configuration by hand is laborious — researching endpoints, pagination, primary keys and auth, then debugging. This agent does it autonomously from just a URL and credentials.</a:t>
            </a:r>
            <a:endParaRPr lang="en-US" sz="1350" dirty="0"/>
          </a:p>
        </p:txBody>
      </p:sp>
      <p:pic>
        <p:nvPicPr>
          <p:cNvPr id="9" name="Image 3" descr="fig_dlt_fl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1965960"/>
            <a:ext cx="10149840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itle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8412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91440"/>
            <a:ext cx="10424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DLT — Guardrails &amp; Impact</a:t>
            </a:r>
            <a:endParaRPr lang="en-US" sz="2300" dirty="0"/>
          </a:p>
        </p:txBody>
      </p:sp>
      <p:pic>
        <p:nvPicPr>
          <p:cNvPr id="4" name="Image 1" descr="footerb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55664"/>
            <a:ext cx="12191695" cy="40233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20040" y="6455664"/>
            <a:ext cx="5486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Computer Engineering</a:t>
            </a:r>
            <a:endParaRPr lang="en-US" sz="1050" dirty="0"/>
          </a:p>
        </p:txBody>
      </p:sp>
      <p:sp>
        <p:nvSpPr>
          <p:cNvPr id="6" name="Text 2"/>
          <p:cNvSpPr/>
          <p:nvPr/>
        </p:nvSpPr>
        <p:spPr>
          <a:xfrm>
            <a:off x="10637215" y="6455664"/>
            <a:ext cx="1234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30</a:t>
            </a:r>
            <a:endParaRPr lang="en-US" sz="1050" dirty="0"/>
          </a:p>
        </p:txBody>
      </p:sp>
      <p:pic>
        <p:nvPicPr>
          <p:cNvPr id="7" name="Image 2" descr="cres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8463" y="5852160"/>
            <a:ext cx="457200" cy="54864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548640" y="1325880"/>
            <a:ext cx="6675120" cy="2834640"/>
          </a:xfrm>
          <a:prstGeom prst="roundRect">
            <a:avLst>
              <a:gd name="adj" fmla="val 1935"/>
            </a:avLst>
          </a:prstGeom>
          <a:solidFill>
            <a:srgbClr val="FBEAEA"/>
          </a:solidFill>
          <a:ln w="12700">
            <a:solidFill>
              <a:srgbClr val="B0121A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786384" y="1453896"/>
            <a:ext cx="62544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012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Anti-hallucination guardrails</a:t>
            </a:r>
            <a:endParaRPr lang="en-US" sz="1450" dirty="0"/>
          </a:p>
        </p:txBody>
      </p:sp>
      <p:sp>
        <p:nvSpPr>
          <p:cNvPr id="10" name="Text 5"/>
          <p:cNvSpPr/>
          <p:nvPr/>
        </p:nvSpPr>
        <p:spPr>
          <a:xfrm>
            <a:off x="786384" y="1874520"/>
            <a:ext cx="6217920" cy="2176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endpoints actually discovered are validated</a:t>
            </a:r>
            <a:endParaRPr lang="en-US" sz="1350" dirty="0"/>
          </a:p>
          <a:p>
            <a:pPr algn="l" marL="177800" indent="-1778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and validation are exhaustive, not sampled</a:t>
            </a:r>
            <a:endParaRPr lang="en-US" sz="1350" dirty="0"/>
          </a:p>
          <a:p>
            <a:pPr algn="l" marL="177800" indent="-1778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keys are taken only from real response data</a:t>
            </a:r>
            <a:endParaRPr lang="en-US" sz="1350" dirty="0"/>
          </a:p>
          <a:p>
            <a:pPr algn="l" marL="177800" indent="-1778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are isolated at the HTTP layer — never in prompts</a:t>
            </a:r>
            <a:endParaRPr lang="en-US" sz="1350" dirty="0"/>
          </a:p>
        </p:txBody>
      </p:sp>
      <p:sp>
        <p:nvSpPr>
          <p:cNvPr id="11" name="Shape 6"/>
          <p:cNvSpPr/>
          <p:nvPr/>
        </p:nvSpPr>
        <p:spPr>
          <a:xfrm>
            <a:off x="7406640" y="1325880"/>
            <a:ext cx="4206240" cy="2834640"/>
          </a:xfrm>
          <a:prstGeom prst="roundRect">
            <a:avLst>
              <a:gd name="adj" fmla="val 1935"/>
            </a:avLst>
          </a:prstGeom>
          <a:solidFill>
            <a:srgbClr val="EAF1FB"/>
          </a:solidFill>
          <a:ln w="12700">
            <a:solidFill>
              <a:srgbClr val="1F3B73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7498080" y="1453896"/>
            <a:ext cx="4023360" cy="15590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B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hours → minutes</a:t>
            </a:r>
            <a:endParaRPr lang="en-US" sz="1800" dirty="0"/>
          </a:p>
        </p:txBody>
      </p:sp>
      <p:sp>
        <p:nvSpPr>
          <p:cNvPr id="13" name="Text 8"/>
          <p:cNvSpPr/>
          <p:nvPr/>
        </p:nvSpPr>
        <p:spPr>
          <a:xfrm>
            <a:off x="7516368" y="3083357"/>
            <a:ext cx="3986784" cy="96377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onboard a new REST API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548640" y="4389120"/>
            <a:ext cx="11064240" cy="1280160"/>
          </a:xfrm>
          <a:prstGeom prst="roundRect">
            <a:avLst>
              <a:gd name="adj" fmla="val 4286"/>
            </a:avLst>
          </a:prstGeom>
          <a:solidFill>
            <a:srgbClr val="F3F7FC"/>
          </a:solidFill>
          <a:ln w="12700">
            <a:solidFill>
              <a:srgbClr val="C7D5EC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786384" y="4517136"/>
            <a:ext cx="106436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B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Destination-agnostic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786384" y="4937760"/>
            <a:ext cx="1060704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generated pipelines run against any dlt destination — Postgres, BigQuery, Snowflake, DuckDB or S3. Built end-to-end during the internship: local execution, pagination + authentication, and internal-gateway integration.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itle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8412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91440"/>
            <a:ext cx="10424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EDB Reusable-Components Dashboard</a:t>
            </a:r>
            <a:endParaRPr lang="en-US" sz="2300" dirty="0"/>
          </a:p>
        </p:txBody>
      </p:sp>
      <p:pic>
        <p:nvPicPr>
          <p:cNvPr id="4" name="Image 1" descr="footerb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55664"/>
            <a:ext cx="12191695" cy="40233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20040" y="6455664"/>
            <a:ext cx="5486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Computer Engineering</a:t>
            </a:r>
            <a:endParaRPr lang="en-US" sz="1050" dirty="0"/>
          </a:p>
        </p:txBody>
      </p:sp>
      <p:sp>
        <p:nvSpPr>
          <p:cNvPr id="6" name="Text 2"/>
          <p:cNvSpPr/>
          <p:nvPr/>
        </p:nvSpPr>
        <p:spPr>
          <a:xfrm>
            <a:off x="10637215" y="6455664"/>
            <a:ext cx="1234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30</a:t>
            </a:r>
            <a:endParaRPr lang="en-US" sz="1050" dirty="0"/>
          </a:p>
        </p:txBody>
      </p:sp>
      <p:pic>
        <p:nvPicPr>
          <p:cNvPr id="7" name="Image 2" descr="cres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8463" y="5852160"/>
            <a:ext cx="457200" cy="54864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48640" y="118872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is built from reusable components, but there was little visibility into how each is used and who consumes its output. A discovery engine makes that usage and lineage visible.</a:t>
            </a:r>
            <a:endParaRPr lang="en-US" sz="1350" dirty="0"/>
          </a:p>
        </p:txBody>
      </p:sp>
      <p:pic>
        <p:nvPicPr>
          <p:cNvPr id="9" name="Image 3" descr="fig_dashboard_fl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1965960"/>
            <a:ext cx="10149840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itle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8412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91440"/>
            <a:ext cx="10424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EDB Dashboard — Coverage &amp; Findings</a:t>
            </a:r>
            <a:endParaRPr lang="en-US" sz="2300" dirty="0"/>
          </a:p>
        </p:txBody>
      </p:sp>
      <p:pic>
        <p:nvPicPr>
          <p:cNvPr id="4" name="Image 1" descr="footerb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55664"/>
            <a:ext cx="12191695" cy="40233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20040" y="6455664"/>
            <a:ext cx="5486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Computer Engineering</a:t>
            </a:r>
            <a:endParaRPr lang="en-US" sz="1050" dirty="0"/>
          </a:p>
        </p:txBody>
      </p:sp>
      <p:sp>
        <p:nvSpPr>
          <p:cNvPr id="6" name="Text 2"/>
          <p:cNvSpPr/>
          <p:nvPr/>
        </p:nvSpPr>
        <p:spPr>
          <a:xfrm>
            <a:off x="10637215" y="6455664"/>
            <a:ext cx="1234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30</a:t>
            </a:r>
            <a:endParaRPr lang="en-US" sz="1050" dirty="0"/>
          </a:p>
        </p:txBody>
      </p:sp>
      <p:pic>
        <p:nvPicPr>
          <p:cNvPr id="7" name="Image 2" descr="cres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8463" y="5852160"/>
            <a:ext cx="457200" cy="54864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48640" y="1188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3B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Discovery coverage — 163 use-cases across 6 components</a:t>
            </a:r>
            <a:endParaRPr lang="en-US" sz="1550" dirty="0"/>
          </a:p>
        </p:txBody>
      </p:sp>
      <p:sp>
        <p:nvSpPr>
          <p:cNvPr id="9" name="Shape 4"/>
          <p:cNvSpPr/>
          <p:nvPr/>
        </p:nvSpPr>
        <p:spPr>
          <a:xfrm>
            <a:off x="548640" y="1691640"/>
            <a:ext cx="6675120" cy="566928"/>
          </a:xfrm>
          <a:prstGeom prst="roundRect">
            <a:avLst>
              <a:gd name="adj" fmla="val 9677"/>
            </a:avLst>
          </a:prstGeom>
          <a:solidFill>
            <a:srgbClr val="F3F7FC"/>
          </a:solidFill>
          <a:ln w="12700">
            <a:solidFill>
              <a:srgbClr val="C7D5EC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777240" y="1691640"/>
            <a:ext cx="5303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Veeva Raw → Refine</a:t>
            </a:r>
            <a:endParaRPr lang="en-US" sz="1300" dirty="0"/>
          </a:p>
        </p:txBody>
      </p:sp>
      <p:sp>
        <p:nvSpPr>
          <p:cNvPr id="11" name="Text 6"/>
          <p:cNvSpPr/>
          <p:nvPr/>
        </p:nvSpPr>
        <p:spPr>
          <a:xfrm>
            <a:off x="6126480" y="1691640"/>
            <a:ext cx="868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B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548640" y="2331720"/>
            <a:ext cx="6675120" cy="566928"/>
          </a:xfrm>
          <a:prstGeom prst="roundRect">
            <a:avLst>
              <a:gd name="adj" fmla="val 9677"/>
            </a:avLst>
          </a:prstGeom>
          <a:solidFill>
            <a:srgbClr val="EAF1FB"/>
          </a:solidFill>
          <a:ln w="12700">
            <a:solidFill>
              <a:srgbClr val="C7D5EC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777240" y="2331720"/>
            <a:ext cx="5303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Consumption (DAG)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6126480" y="2331720"/>
            <a:ext cx="868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B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548640" y="2971800"/>
            <a:ext cx="6675120" cy="566928"/>
          </a:xfrm>
          <a:prstGeom prst="roundRect">
            <a:avLst>
              <a:gd name="adj" fmla="val 9677"/>
            </a:avLst>
          </a:prstGeom>
          <a:solidFill>
            <a:srgbClr val="F3F7FC"/>
          </a:solidFill>
          <a:ln w="12700">
            <a:solidFill>
              <a:srgbClr val="C7D5EC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777240" y="2971800"/>
            <a:ext cx="5303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Veeva Source → Raw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6126480" y="2971800"/>
            <a:ext cx="868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B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548640" y="3611880"/>
            <a:ext cx="6675120" cy="566928"/>
          </a:xfrm>
          <a:prstGeom prst="roundRect">
            <a:avLst>
              <a:gd name="adj" fmla="val 9677"/>
            </a:avLst>
          </a:prstGeom>
          <a:solidFill>
            <a:srgbClr val="EAF1FB"/>
          </a:solidFill>
          <a:ln w="12700">
            <a:solidFill>
              <a:srgbClr val="C7D5EC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777240" y="3611880"/>
            <a:ext cx="5303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Ingestion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126480" y="3611880"/>
            <a:ext cx="868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B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548640" y="4251960"/>
            <a:ext cx="6675120" cy="566928"/>
          </a:xfrm>
          <a:prstGeom prst="roundRect">
            <a:avLst>
              <a:gd name="adj" fmla="val 9677"/>
            </a:avLst>
          </a:prstGeom>
          <a:solidFill>
            <a:srgbClr val="F3F7FC"/>
          </a:solidFill>
          <a:ln w="12700">
            <a:solidFill>
              <a:srgbClr val="C7D5EC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777240" y="4251960"/>
            <a:ext cx="5303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Direct Download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6126480" y="4251960"/>
            <a:ext cx="868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B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400" dirty="0"/>
          </a:p>
        </p:txBody>
      </p:sp>
      <p:sp>
        <p:nvSpPr>
          <p:cNvPr id="24" name="Shape 19"/>
          <p:cNvSpPr/>
          <p:nvPr/>
        </p:nvSpPr>
        <p:spPr>
          <a:xfrm>
            <a:off x="548640" y="4892040"/>
            <a:ext cx="6675120" cy="566928"/>
          </a:xfrm>
          <a:prstGeom prst="roundRect">
            <a:avLst>
              <a:gd name="adj" fmla="val 9677"/>
            </a:avLst>
          </a:prstGeom>
          <a:solidFill>
            <a:srgbClr val="EAF1FB"/>
          </a:solidFill>
          <a:ln w="12700">
            <a:solidFill>
              <a:srgbClr val="C7D5EC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777240" y="4892040"/>
            <a:ext cx="5303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Consumption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6126480" y="4892040"/>
            <a:ext cx="868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B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27" name="Shape 22"/>
          <p:cNvSpPr/>
          <p:nvPr/>
        </p:nvSpPr>
        <p:spPr>
          <a:xfrm>
            <a:off x="7498080" y="1691640"/>
            <a:ext cx="4114800" cy="1828800"/>
          </a:xfrm>
          <a:prstGeom prst="roundRect">
            <a:avLst>
              <a:gd name="adj" fmla="val 3000"/>
            </a:avLst>
          </a:prstGeom>
          <a:solidFill>
            <a:srgbClr val="FBEAEA"/>
          </a:solidFill>
          <a:ln w="12700">
            <a:solidFill>
              <a:srgbClr val="B0121A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7589520" y="1819656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012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of 6</a:t>
            </a:r>
            <a:endParaRPr lang="en-US" sz="3000" dirty="0"/>
          </a:p>
        </p:txBody>
      </p:sp>
      <p:sp>
        <p:nvSpPr>
          <p:cNvPr id="29" name="Text 24"/>
          <p:cNvSpPr/>
          <p:nvPr/>
        </p:nvSpPr>
        <p:spPr>
          <a:xfrm>
            <a:off x="7607808" y="2825496"/>
            <a:ext cx="3895344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have consumer info — the biggest lineage gap</a:t>
            </a:r>
            <a:endParaRPr lang="en-US" sz="1150" dirty="0"/>
          </a:p>
        </p:txBody>
      </p:sp>
      <p:sp>
        <p:nvSpPr>
          <p:cNvPr id="30" name="Shape 25"/>
          <p:cNvSpPr/>
          <p:nvPr/>
        </p:nvSpPr>
        <p:spPr>
          <a:xfrm>
            <a:off x="7498080" y="3703320"/>
            <a:ext cx="4114800" cy="1920240"/>
          </a:xfrm>
          <a:prstGeom prst="roundRect">
            <a:avLst>
              <a:gd name="adj" fmla="val 2857"/>
            </a:avLst>
          </a:prstGeom>
          <a:solidFill>
            <a:srgbClr val="F3F7FC"/>
          </a:solidFill>
          <a:ln w="12700">
            <a:solidFill>
              <a:srgbClr val="C7D5EC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7735824" y="3831336"/>
            <a:ext cx="36941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B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Also delivered</a:t>
            </a:r>
            <a:endParaRPr lang="en-US" sz="1450" dirty="0"/>
          </a:p>
        </p:txBody>
      </p:sp>
      <p:sp>
        <p:nvSpPr>
          <p:cNvPr id="32" name="Text 27"/>
          <p:cNvSpPr/>
          <p:nvPr/>
        </p:nvSpPr>
        <p:spPr>
          <a:xfrm>
            <a:off x="7735824" y="4251960"/>
            <a:ext cx="3657600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52400" indent="-1524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Change-request attribution across all components</a:t>
            </a:r>
            <a:endParaRPr lang="en-US" sz="1200" dirty="0"/>
          </a:p>
          <a:p>
            <a:pPr algn="l" marL="152400" indent="-1524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Lineage tracker &amp; development-timeline view</a:t>
            </a:r>
            <a:endParaRPr lang="en-US" sz="1200" dirty="0"/>
          </a:p>
          <a:p>
            <a:pPr algn="l" marL="152400" indent="-1524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D3 graph + gap report; demoed to leads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itle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8412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91440"/>
            <a:ext cx="10424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Timeline — Six Months</a:t>
            </a:r>
            <a:endParaRPr lang="en-US" sz="2300" dirty="0"/>
          </a:p>
        </p:txBody>
      </p:sp>
      <p:pic>
        <p:nvPicPr>
          <p:cNvPr id="4" name="Image 1" descr="footerb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55664"/>
            <a:ext cx="12191695" cy="40233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20040" y="6455664"/>
            <a:ext cx="5486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Computer Engineering</a:t>
            </a:r>
            <a:endParaRPr lang="en-US" sz="1050" dirty="0"/>
          </a:p>
        </p:txBody>
      </p:sp>
      <p:sp>
        <p:nvSpPr>
          <p:cNvPr id="6" name="Text 2"/>
          <p:cNvSpPr/>
          <p:nvPr/>
        </p:nvSpPr>
        <p:spPr>
          <a:xfrm>
            <a:off x="10637215" y="6455664"/>
            <a:ext cx="1234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30</a:t>
            </a:r>
            <a:endParaRPr lang="en-US" sz="1050" dirty="0"/>
          </a:p>
        </p:txBody>
      </p:sp>
      <p:pic>
        <p:nvPicPr>
          <p:cNvPr id="7" name="Image 2" descr="cres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8463" y="5852160"/>
            <a:ext cx="457200" cy="54864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1261872" y="1508760"/>
            <a:ext cx="45720" cy="4315968"/>
          </a:xfrm>
          <a:prstGeom prst="rect">
            <a:avLst/>
          </a:prstGeom>
          <a:solidFill>
            <a:srgbClr val="3E6DB5"/>
          </a:solidFill>
          <a:ln/>
        </p:spPr>
      </p:sp>
      <p:sp>
        <p:nvSpPr>
          <p:cNvPr id="9" name="Shape 4"/>
          <p:cNvSpPr/>
          <p:nvPr/>
        </p:nvSpPr>
        <p:spPr>
          <a:xfrm>
            <a:off x="1024128" y="1472184"/>
            <a:ext cx="512064" cy="512064"/>
          </a:xfrm>
          <a:prstGeom prst="ellipse">
            <a:avLst/>
          </a:prstGeom>
          <a:solidFill>
            <a:srgbClr val="1F3B7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1024128" y="147218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Jan</a:t>
            </a:r>
            <a:endParaRPr lang="en-US" sz="1150" dirty="0"/>
          </a:p>
        </p:txBody>
      </p:sp>
      <p:sp>
        <p:nvSpPr>
          <p:cNvPr id="11" name="Shape 6"/>
          <p:cNvSpPr/>
          <p:nvPr/>
        </p:nvSpPr>
        <p:spPr>
          <a:xfrm>
            <a:off x="1828800" y="1417320"/>
            <a:ext cx="10149840" cy="603504"/>
          </a:xfrm>
          <a:prstGeom prst="roundRect">
            <a:avLst>
              <a:gd name="adj" fmla="val 9091"/>
            </a:avLst>
          </a:prstGeom>
          <a:solidFill>
            <a:srgbClr val="F3F7FC"/>
          </a:solidFill>
          <a:ln w="12700">
            <a:solidFill>
              <a:srgbClr val="C7D5EC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2057400" y="1417320"/>
            <a:ext cx="96926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Onboarding, CI/CD, first S3→Lambda→Glue pipeline</a:t>
            </a:r>
            <a:endParaRPr lang="en-US" sz="1350" dirty="0"/>
          </a:p>
        </p:txBody>
      </p:sp>
      <p:sp>
        <p:nvSpPr>
          <p:cNvPr id="13" name="Shape 8"/>
          <p:cNvSpPr/>
          <p:nvPr/>
        </p:nvSpPr>
        <p:spPr>
          <a:xfrm>
            <a:off x="1024128" y="2221992"/>
            <a:ext cx="512064" cy="512064"/>
          </a:xfrm>
          <a:prstGeom prst="ellipse">
            <a:avLst/>
          </a:prstGeom>
          <a:solidFill>
            <a:srgbClr val="1F3B7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1024128" y="222199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Feb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1828800" y="2167128"/>
            <a:ext cx="10149840" cy="603504"/>
          </a:xfrm>
          <a:prstGeom prst="roundRect">
            <a:avLst>
              <a:gd name="adj" fmla="val 9091"/>
            </a:avLst>
          </a:prstGeom>
          <a:solidFill>
            <a:srgbClr val="EAF1FB"/>
          </a:solidFill>
          <a:ln w="12700">
            <a:solidFill>
              <a:srgbClr val="C7D5EC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2057400" y="2167128"/>
            <a:ext cx="96926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familiarisation; validation metrics; multimodal VLM inputs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1024128" y="2971800"/>
            <a:ext cx="512064" cy="512064"/>
          </a:xfrm>
          <a:prstGeom prst="ellipse">
            <a:avLst/>
          </a:prstGeom>
          <a:solidFill>
            <a:srgbClr val="1F3B7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1024128" y="297180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1828800" y="2916936"/>
            <a:ext cx="10149840" cy="603504"/>
          </a:xfrm>
          <a:prstGeom prst="roundRect">
            <a:avLst>
              <a:gd name="adj" fmla="val 9091"/>
            </a:avLst>
          </a:prstGeom>
          <a:solidFill>
            <a:srgbClr val="F3F7FC"/>
          </a:solidFill>
          <a:ln w="12700">
            <a:solidFill>
              <a:srgbClr val="C7D5EC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2057400" y="2916936"/>
            <a:ext cx="96926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 core, prompt engineering, gateway, 19-doc run shared with LRL</a:t>
            </a:r>
            <a:endParaRPr lang="en-US" sz="1350" dirty="0"/>
          </a:p>
        </p:txBody>
      </p:sp>
      <p:sp>
        <p:nvSpPr>
          <p:cNvPr id="21" name="Shape 16"/>
          <p:cNvSpPr/>
          <p:nvPr/>
        </p:nvSpPr>
        <p:spPr>
          <a:xfrm>
            <a:off x="1024128" y="3721608"/>
            <a:ext cx="512064" cy="512064"/>
          </a:xfrm>
          <a:prstGeom prst="ellipse">
            <a:avLst/>
          </a:prstGeom>
          <a:solidFill>
            <a:srgbClr val="1F3B7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1024128" y="3721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1828800" y="3666744"/>
            <a:ext cx="10149840" cy="603504"/>
          </a:xfrm>
          <a:prstGeom prst="roundRect">
            <a:avLst>
              <a:gd name="adj" fmla="val 9091"/>
            </a:avLst>
          </a:prstGeom>
          <a:solidFill>
            <a:srgbClr val="EAF1FB"/>
          </a:solidFill>
          <a:ln w="12700">
            <a:solidFill>
              <a:srgbClr val="C7D5EC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2057400" y="3666744"/>
            <a:ext cx="96926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Data-quality flagging; dev deploy; ~95% LRL feedback; midterm eval</a:t>
            </a:r>
            <a:endParaRPr lang="en-US" sz="1350" dirty="0"/>
          </a:p>
        </p:txBody>
      </p:sp>
      <p:sp>
        <p:nvSpPr>
          <p:cNvPr id="25" name="Shape 20"/>
          <p:cNvSpPr/>
          <p:nvPr/>
        </p:nvSpPr>
        <p:spPr>
          <a:xfrm>
            <a:off x="1024128" y="4471416"/>
            <a:ext cx="512064" cy="512064"/>
          </a:xfrm>
          <a:prstGeom prst="ellipse">
            <a:avLst/>
          </a:prstGeom>
          <a:solidFill>
            <a:srgbClr val="1F3B7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1024128" y="447141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May</a:t>
            </a:r>
            <a:endParaRPr lang="en-US" sz="1150" dirty="0"/>
          </a:p>
        </p:txBody>
      </p:sp>
      <p:sp>
        <p:nvSpPr>
          <p:cNvPr id="27" name="Shape 22"/>
          <p:cNvSpPr/>
          <p:nvPr/>
        </p:nvSpPr>
        <p:spPr>
          <a:xfrm>
            <a:off x="1828800" y="4416552"/>
            <a:ext cx="10149840" cy="603504"/>
          </a:xfrm>
          <a:prstGeom prst="roundRect">
            <a:avLst>
              <a:gd name="adj" fmla="val 9091"/>
            </a:avLst>
          </a:prstGeom>
          <a:solidFill>
            <a:srgbClr val="F3F7FC"/>
          </a:solidFill>
          <a:ln w="12700">
            <a:solidFill>
              <a:srgbClr val="C7D5EC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2057400" y="4416552"/>
            <a:ext cx="96926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deploy; ~500-PDF stress test; DLT generator; GA4 baseline metrics</a:t>
            </a:r>
            <a:endParaRPr lang="en-US" sz="1350" dirty="0"/>
          </a:p>
        </p:txBody>
      </p:sp>
      <p:sp>
        <p:nvSpPr>
          <p:cNvPr id="29" name="Shape 24"/>
          <p:cNvSpPr/>
          <p:nvPr/>
        </p:nvSpPr>
        <p:spPr>
          <a:xfrm>
            <a:off x="1024128" y="5221224"/>
            <a:ext cx="512064" cy="512064"/>
          </a:xfrm>
          <a:prstGeom prst="ellipse">
            <a:avLst/>
          </a:prstGeom>
          <a:solidFill>
            <a:srgbClr val="1F3B7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1024128" y="522122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Jun</a:t>
            </a:r>
            <a:endParaRPr lang="en-US" sz="1150" dirty="0"/>
          </a:p>
        </p:txBody>
      </p:sp>
      <p:sp>
        <p:nvSpPr>
          <p:cNvPr id="31" name="Shape 26"/>
          <p:cNvSpPr/>
          <p:nvPr/>
        </p:nvSpPr>
        <p:spPr>
          <a:xfrm>
            <a:off x="1828800" y="5166360"/>
            <a:ext cx="10149840" cy="603504"/>
          </a:xfrm>
          <a:prstGeom prst="roundRect">
            <a:avLst>
              <a:gd name="adj" fmla="val 9091"/>
            </a:avLst>
          </a:prstGeom>
          <a:solidFill>
            <a:srgbClr val="EAF1FB"/>
          </a:solidFill>
          <a:ln w="12700">
            <a:solidFill>
              <a:srgbClr val="C7D5EC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2057400" y="5166360"/>
            <a:ext cx="96926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 QA + KT; GA4 discrepancy report; EDB components dashboard</a:t>
            </a:r>
            <a:endParaRPr lang="en-US" sz="13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itle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8412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91440"/>
            <a:ext cx="10424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 &amp; Professional Development</a:t>
            </a:r>
            <a:endParaRPr lang="en-US" sz="2300" dirty="0"/>
          </a:p>
        </p:txBody>
      </p:sp>
      <p:pic>
        <p:nvPicPr>
          <p:cNvPr id="4" name="Image 1" descr="footerb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55664"/>
            <a:ext cx="12191695" cy="40233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20040" y="6455664"/>
            <a:ext cx="5486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Computer Engineering</a:t>
            </a:r>
            <a:endParaRPr lang="en-US" sz="1050" dirty="0"/>
          </a:p>
        </p:txBody>
      </p:sp>
      <p:sp>
        <p:nvSpPr>
          <p:cNvPr id="6" name="Text 2"/>
          <p:cNvSpPr/>
          <p:nvPr/>
        </p:nvSpPr>
        <p:spPr>
          <a:xfrm>
            <a:off x="10637215" y="6455664"/>
            <a:ext cx="1234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30</a:t>
            </a:r>
            <a:endParaRPr lang="en-US" sz="1050" dirty="0"/>
          </a:p>
        </p:txBody>
      </p:sp>
      <p:pic>
        <p:nvPicPr>
          <p:cNvPr id="7" name="Image 2" descr="cres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8463" y="5852160"/>
            <a:ext cx="457200" cy="54864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48640" y="1188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3B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</a:t>
            </a:r>
            <a:endParaRPr lang="en-US" sz="1550" dirty="0"/>
          </a:p>
        </p:txBody>
      </p:sp>
      <p:sp>
        <p:nvSpPr>
          <p:cNvPr id="9" name="Shape 4"/>
          <p:cNvSpPr/>
          <p:nvPr/>
        </p:nvSpPr>
        <p:spPr>
          <a:xfrm>
            <a:off x="548640" y="1645920"/>
            <a:ext cx="3529584" cy="566928"/>
          </a:xfrm>
          <a:prstGeom prst="roundRect">
            <a:avLst>
              <a:gd name="adj" fmla="val 9677"/>
            </a:avLst>
          </a:prstGeom>
          <a:solidFill>
            <a:srgbClr val="EAF1FB"/>
          </a:solidFill>
          <a:ln w="12700">
            <a:solidFill>
              <a:srgbClr val="3E6DB5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640080" y="1645920"/>
            <a:ext cx="33467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(S3 · Lambda · Glue · Textract)</a:t>
            </a:r>
            <a:endParaRPr lang="en-US" sz="1200" dirty="0"/>
          </a:p>
        </p:txBody>
      </p:sp>
      <p:sp>
        <p:nvSpPr>
          <p:cNvPr id="11" name="Shape 6"/>
          <p:cNvSpPr/>
          <p:nvPr/>
        </p:nvSpPr>
        <p:spPr>
          <a:xfrm>
            <a:off x="4315968" y="1645920"/>
            <a:ext cx="3529584" cy="566928"/>
          </a:xfrm>
          <a:prstGeom prst="roundRect">
            <a:avLst>
              <a:gd name="adj" fmla="val 9677"/>
            </a:avLst>
          </a:prstGeom>
          <a:solidFill>
            <a:srgbClr val="EAF1FB"/>
          </a:solidFill>
          <a:ln w="12700">
            <a:solidFill>
              <a:srgbClr val="3E6DB5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4407408" y="1645920"/>
            <a:ext cx="33467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&amp; VLM workflows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8083296" y="1645920"/>
            <a:ext cx="3529584" cy="566928"/>
          </a:xfrm>
          <a:prstGeom prst="roundRect">
            <a:avLst>
              <a:gd name="adj" fmla="val 9677"/>
            </a:avLst>
          </a:prstGeom>
          <a:solidFill>
            <a:srgbClr val="EAF1FB"/>
          </a:solidFill>
          <a:ln w="12700">
            <a:solidFill>
              <a:srgbClr val="3E6DB5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8174736" y="1645920"/>
            <a:ext cx="33467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548640" y="2359152"/>
            <a:ext cx="3529584" cy="566928"/>
          </a:xfrm>
          <a:prstGeom prst="roundRect">
            <a:avLst>
              <a:gd name="adj" fmla="val 9677"/>
            </a:avLst>
          </a:prstGeom>
          <a:solidFill>
            <a:srgbClr val="EAF1FB"/>
          </a:solidFill>
          <a:ln w="12700">
            <a:solidFill>
              <a:srgbClr val="3E6DB5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640080" y="2359152"/>
            <a:ext cx="33467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— GitHub Actions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4315968" y="2359152"/>
            <a:ext cx="3529584" cy="566928"/>
          </a:xfrm>
          <a:prstGeom prst="roundRect">
            <a:avLst>
              <a:gd name="adj" fmla="val 9677"/>
            </a:avLst>
          </a:prstGeom>
          <a:solidFill>
            <a:srgbClr val="EAF1FB"/>
          </a:solidFill>
          <a:ln w="12700">
            <a:solidFill>
              <a:srgbClr val="3E6DB5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4407408" y="2359152"/>
            <a:ext cx="33467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as code (SAM)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8083296" y="2359152"/>
            <a:ext cx="3529584" cy="566928"/>
          </a:xfrm>
          <a:prstGeom prst="roundRect">
            <a:avLst>
              <a:gd name="adj" fmla="val 9677"/>
            </a:avLst>
          </a:prstGeom>
          <a:solidFill>
            <a:srgbClr val="EAF1FB"/>
          </a:solidFill>
          <a:ln w="12700">
            <a:solidFill>
              <a:srgbClr val="3E6DB5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8174736" y="2359152"/>
            <a:ext cx="33467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dlt &amp; API ingestion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548640" y="3072384"/>
            <a:ext cx="3529584" cy="566928"/>
          </a:xfrm>
          <a:prstGeom prst="roundRect">
            <a:avLst>
              <a:gd name="adj" fmla="val 9677"/>
            </a:avLst>
          </a:prstGeom>
          <a:solidFill>
            <a:srgbClr val="EAF1FB"/>
          </a:solidFill>
          <a:ln w="12700">
            <a:solidFill>
              <a:srgbClr val="3E6DB5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640080" y="3072384"/>
            <a:ext cx="33467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Spark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4315968" y="3072384"/>
            <a:ext cx="3529584" cy="566928"/>
          </a:xfrm>
          <a:prstGeom prst="roundRect">
            <a:avLst>
              <a:gd name="adj" fmla="val 9677"/>
            </a:avLst>
          </a:prstGeom>
          <a:solidFill>
            <a:srgbClr val="EAF1FB"/>
          </a:solidFill>
          <a:ln w="12700">
            <a:solidFill>
              <a:srgbClr val="3E6DB5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4407408" y="3072384"/>
            <a:ext cx="33467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BigQuery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8083296" y="3072384"/>
            <a:ext cx="3529584" cy="566928"/>
          </a:xfrm>
          <a:prstGeom prst="roundRect">
            <a:avLst>
              <a:gd name="adj" fmla="val 9677"/>
            </a:avLst>
          </a:prstGeom>
          <a:solidFill>
            <a:srgbClr val="EAF1FB"/>
          </a:solidFill>
          <a:ln w="12700">
            <a:solidFill>
              <a:srgbClr val="3E6DB5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8174736" y="3072384"/>
            <a:ext cx="33467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Data-quality engineering</a:t>
            </a:r>
            <a:endParaRPr lang="en-US" sz="1200" dirty="0"/>
          </a:p>
        </p:txBody>
      </p:sp>
      <p:sp>
        <p:nvSpPr>
          <p:cNvPr id="27" name="Shape 22"/>
          <p:cNvSpPr/>
          <p:nvPr/>
        </p:nvSpPr>
        <p:spPr>
          <a:xfrm>
            <a:off x="548640" y="3785616"/>
            <a:ext cx="3529584" cy="566928"/>
          </a:xfrm>
          <a:prstGeom prst="roundRect">
            <a:avLst>
              <a:gd name="adj" fmla="val 9677"/>
            </a:avLst>
          </a:prstGeom>
          <a:solidFill>
            <a:srgbClr val="EAF1FB"/>
          </a:solidFill>
          <a:ln w="12700">
            <a:solidFill>
              <a:srgbClr val="3E6DB5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640080" y="3785616"/>
            <a:ext cx="33467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&amp; D3 dashboards</a:t>
            </a:r>
            <a:endParaRPr lang="en-US" sz="1200" dirty="0"/>
          </a:p>
        </p:txBody>
      </p:sp>
      <p:sp>
        <p:nvSpPr>
          <p:cNvPr id="29" name="Text 24"/>
          <p:cNvSpPr/>
          <p:nvPr/>
        </p:nvSpPr>
        <p:spPr>
          <a:xfrm>
            <a:off x="548640" y="4343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3B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Professional</a:t>
            </a:r>
            <a:endParaRPr lang="en-US" sz="1550" dirty="0"/>
          </a:p>
        </p:txBody>
      </p:sp>
      <p:sp>
        <p:nvSpPr>
          <p:cNvPr id="30" name="Text 25"/>
          <p:cNvSpPr/>
          <p:nvPr/>
        </p:nvSpPr>
        <p:spPr>
          <a:xfrm>
            <a:off x="548640" y="4754880"/>
            <a:ext cx="110642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/ Scrum delivery — sprints, story points, definitions of ready/done; ~35 compliance courses completed.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Cross-team collaboration, knowledge-transfer sessions, code reviews, and demos to leadership.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itle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8412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91440"/>
            <a:ext cx="10424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2300" dirty="0"/>
          </a:p>
        </p:txBody>
      </p:sp>
      <p:pic>
        <p:nvPicPr>
          <p:cNvPr id="4" name="Image 1" descr="footerb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55664"/>
            <a:ext cx="12191695" cy="40233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20040" y="6455664"/>
            <a:ext cx="5486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Computer Engineering</a:t>
            </a:r>
            <a:endParaRPr lang="en-US" sz="1050" dirty="0"/>
          </a:p>
        </p:txBody>
      </p:sp>
      <p:sp>
        <p:nvSpPr>
          <p:cNvPr id="6" name="Text 2"/>
          <p:cNvSpPr/>
          <p:nvPr/>
        </p:nvSpPr>
        <p:spPr>
          <a:xfrm>
            <a:off x="10637215" y="6455664"/>
            <a:ext cx="1234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30</a:t>
            </a:r>
            <a:endParaRPr lang="en-US" sz="1050" dirty="0"/>
          </a:p>
        </p:txBody>
      </p:sp>
      <p:pic>
        <p:nvPicPr>
          <p:cNvPr id="7" name="Image 2" descr="cres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8463" y="5852160"/>
            <a:ext cx="457200" cy="54864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548640" y="1371600"/>
            <a:ext cx="11064240" cy="4206240"/>
          </a:xfrm>
          <a:prstGeom prst="roundRect">
            <a:avLst>
              <a:gd name="adj" fmla="val 1304"/>
            </a:avLst>
          </a:prstGeom>
          <a:solidFill>
            <a:srgbClr val="F3F7FC"/>
          </a:solidFill>
          <a:ln w="12700">
            <a:solidFill>
              <a:srgbClr val="C7D5EC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914400" y="1645920"/>
            <a:ext cx="103327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lnSpc>
                <a:spcPct val="114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template-free OCR + VLM pipeline with self-healing validation reliably converts diverse pharmaceutical PDFs into structured JSON.</a:t>
            </a:r>
            <a:endParaRPr lang="en-US" sz="1500" dirty="0"/>
          </a:p>
          <a:p>
            <a:pPr marL="203200" indent="-203200">
              <a:lnSpc>
                <a:spcPct val="114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showed ~85% average recall on 19 documents, and ~95% accuracy in domain-expert review, with per-page quality scoring recognised as a key strength.</a:t>
            </a:r>
            <a:endParaRPr lang="en-US" sz="1500" dirty="0"/>
          </a:p>
          <a:p>
            <a:pPr marL="203200" indent="-203200">
              <a:lnSpc>
                <a:spcPct val="114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apparent precision gap is an artefact of comparing structured output against an unstructured OCR reference — recall is the meaningful measure of completeness.</a:t>
            </a:r>
            <a:endParaRPr lang="en-US" sz="1500" dirty="0"/>
          </a:p>
          <a:p>
            <a:pPr marL="203200" indent="-203200">
              <a:lnSpc>
                <a:spcPct val="114000"/>
              </a:lnSpc>
              <a:buSzPct val="100000"/>
              <a:buChar char="•"/>
            </a:pPr>
            <a:r>
              <a:rPr lang="en-US" sz="15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reached QA with knowledge transfer complete, and three further contributions made the enterprise data platform faster, more automated and more observable.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itle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8412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91440"/>
            <a:ext cx="10424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2300" dirty="0"/>
          </a:p>
        </p:txBody>
      </p:sp>
      <p:pic>
        <p:nvPicPr>
          <p:cNvPr id="4" name="Image 1" descr="footerb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55664"/>
            <a:ext cx="12191695" cy="40233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20040" y="6455664"/>
            <a:ext cx="5486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Computer Engineering</a:t>
            </a:r>
            <a:endParaRPr lang="en-US" sz="1050" dirty="0"/>
          </a:p>
        </p:txBody>
      </p:sp>
      <p:sp>
        <p:nvSpPr>
          <p:cNvPr id="6" name="Text 2"/>
          <p:cNvSpPr/>
          <p:nvPr/>
        </p:nvSpPr>
        <p:spPr>
          <a:xfrm>
            <a:off x="10637215" y="6455664"/>
            <a:ext cx="1234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30</a:t>
            </a:r>
            <a:endParaRPr lang="en-US" sz="1050" dirty="0"/>
          </a:p>
        </p:txBody>
      </p:sp>
      <p:pic>
        <p:nvPicPr>
          <p:cNvPr id="7" name="Image 2" descr="cres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8463" y="5852160"/>
            <a:ext cx="457200" cy="54864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548640" y="1371600"/>
            <a:ext cx="5440680" cy="1170432"/>
          </a:xfrm>
          <a:prstGeom prst="roundRect">
            <a:avLst>
              <a:gd name="adj" fmla="val 4688"/>
            </a:avLst>
          </a:prstGeom>
          <a:solidFill>
            <a:srgbClr val="F3F7FC"/>
          </a:solidFill>
          <a:ln w="12700">
            <a:solidFill>
              <a:srgbClr val="C7D5EC"/>
            </a:solidFill>
            <a:prstDash val="solid"/>
          </a:ln>
        </p:spPr>
      </p:sp>
      <p:sp>
        <p:nvSpPr>
          <p:cNvPr id="9" name="Shape 4"/>
          <p:cNvSpPr/>
          <p:nvPr/>
        </p:nvSpPr>
        <p:spPr>
          <a:xfrm>
            <a:off x="749808" y="1591056"/>
            <a:ext cx="146304" cy="146304"/>
          </a:xfrm>
          <a:prstGeom prst="ellipse">
            <a:avLst/>
          </a:prstGeom>
          <a:solidFill>
            <a:srgbClr val="3E6DB5"/>
          </a:solidFill>
          <a:ln/>
        </p:spPr>
      </p:sp>
      <p:sp>
        <p:nvSpPr>
          <p:cNvPr id="10" name="Text 5"/>
          <p:cNvSpPr/>
          <p:nvPr/>
        </p:nvSpPr>
        <p:spPr>
          <a:xfrm>
            <a:off x="1005840" y="1499616"/>
            <a:ext cx="4800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B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Format-aware routing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786384" y="1920240"/>
            <a:ext cx="498348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scanned and landscape documents down specialised paths, since format drives quality.</a:t>
            </a:r>
            <a:endParaRPr lang="en-US" sz="1200" dirty="0"/>
          </a:p>
        </p:txBody>
      </p:sp>
      <p:sp>
        <p:nvSpPr>
          <p:cNvPr id="12" name="Shape 7"/>
          <p:cNvSpPr/>
          <p:nvPr/>
        </p:nvSpPr>
        <p:spPr>
          <a:xfrm>
            <a:off x="6172200" y="1371600"/>
            <a:ext cx="5440680" cy="1170432"/>
          </a:xfrm>
          <a:prstGeom prst="roundRect">
            <a:avLst>
              <a:gd name="adj" fmla="val 4688"/>
            </a:avLst>
          </a:prstGeom>
          <a:solidFill>
            <a:srgbClr val="F3F7FC"/>
          </a:solidFill>
          <a:ln w="12700">
            <a:solidFill>
              <a:srgbClr val="C7D5EC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6373368" y="1591056"/>
            <a:ext cx="146304" cy="146304"/>
          </a:xfrm>
          <a:prstGeom prst="ellipse">
            <a:avLst/>
          </a:prstGeom>
          <a:solidFill>
            <a:srgbClr val="3E6DB5"/>
          </a:solidFill>
          <a:ln/>
        </p:spPr>
      </p:sp>
      <p:sp>
        <p:nvSpPr>
          <p:cNvPr id="14" name="Text 9"/>
          <p:cNvSpPr/>
          <p:nvPr/>
        </p:nvSpPr>
        <p:spPr>
          <a:xfrm>
            <a:off x="6629400" y="1499616"/>
            <a:ext cx="4800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B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Fixed standardised schema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6409944" y="1920240"/>
            <a:ext cx="498348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consistent field names across all document types to eliminate schema drift.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548640" y="2706624"/>
            <a:ext cx="5440680" cy="1170432"/>
          </a:xfrm>
          <a:prstGeom prst="roundRect">
            <a:avLst>
              <a:gd name="adj" fmla="val 4688"/>
            </a:avLst>
          </a:prstGeom>
          <a:solidFill>
            <a:srgbClr val="F3F7FC"/>
          </a:solidFill>
          <a:ln w="12700">
            <a:solidFill>
              <a:srgbClr val="C7D5EC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749808" y="2926080"/>
            <a:ext cx="146304" cy="146304"/>
          </a:xfrm>
          <a:prstGeom prst="ellipse">
            <a:avLst/>
          </a:prstGeom>
          <a:solidFill>
            <a:srgbClr val="3E6DB5"/>
          </a:solidFill>
          <a:ln/>
        </p:spPr>
      </p:sp>
      <p:sp>
        <p:nvSpPr>
          <p:cNvPr id="18" name="Text 13"/>
          <p:cNvSpPr/>
          <p:nvPr/>
        </p:nvSpPr>
        <p:spPr>
          <a:xfrm>
            <a:off x="1005840" y="2834640"/>
            <a:ext cx="4800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B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Hardened accuracy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786384" y="3255264"/>
            <a:ext cx="498348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Identifier-format validation and locale-aware numeric normalisation for scanned docs.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172200" y="2706624"/>
            <a:ext cx="5440680" cy="1170432"/>
          </a:xfrm>
          <a:prstGeom prst="roundRect">
            <a:avLst>
              <a:gd name="adj" fmla="val 4688"/>
            </a:avLst>
          </a:prstGeom>
          <a:solidFill>
            <a:srgbClr val="F3F7FC"/>
          </a:solidFill>
          <a:ln w="12700">
            <a:solidFill>
              <a:srgbClr val="C7D5EC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373368" y="2926080"/>
            <a:ext cx="146304" cy="146304"/>
          </a:xfrm>
          <a:prstGeom prst="ellipse">
            <a:avLst/>
          </a:prstGeom>
          <a:solidFill>
            <a:srgbClr val="3E6DB5"/>
          </a:solidFill>
          <a:ln/>
        </p:spPr>
      </p:sp>
      <p:sp>
        <p:nvSpPr>
          <p:cNvPr id="22" name="Text 17"/>
          <p:cNvSpPr/>
          <p:nvPr/>
        </p:nvSpPr>
        <p:spPr>
          <a:xfrm>
            <a:off x="6629400" y="2834640"/>
            <a:ext cx="4800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B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Path to production</a:t>
            </a:r>
            <a:endParaRPr lang="en-US" sz="1350" dirty="0"/>
          </a:p>
        </p:txBody>
      </p:sp>
      <p:sp>
        <p:nvSpPr>
          <p:cNvPr id="23" name="Text 18"/>
          <p:cNvSpPr/>
          <p:nvPr/>
        </p:nvSpPr>
        <p:spPr>
          <a:xfrm>
            <a:off x="6409944" y="3255264"/>
            <a:ext cx="498348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CI/CD on the repository and a consuming team to move from QA to production.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548640" y="4041648"/>
            <a:ext cx="5440680" cy="1170432"/>
          </a:xfrm>
          <a:prstGeom prst="roundRect">
            <a:avLst>
              <a:gd name="adj" fmla="val 4688"/>
            </a:avLst>
          </a:prstGeom>
          <a:solidFill>
            <a:srgbClr val="F3F7FC"/>
          </a:solidFill>
          <a:ln w="12700">
            <a:solidFill>
              <a:srgbClr val="C7D5EC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749808" y="4261104"/>
            <a:ext cx="146304" cy="146304"/>
          </a:xfrm>
          <a:prstGeom prst="ellipse">
            <a:avLst/>
          </a:prstGeom>
          <a:solidFill>
            <a:srgbClr val="3E6DB5"/>
          </a:solidFill>
          <a:ln/>
        </p:spPr>
      </p:sp>
      <p:sp>
        <p:nvSpPr>
          <p:cNvPr id="26" name="Text 21"/>
          <p:cNvSpPr/>
          <p:nvPr/>
        </p:nvSpPr>
        <p:spPr>
          <a:xfrm>
            <a:off x="1005840" y="4169664"/>
            <a:ext cx="4800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B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distillation</a:t>
            </a:r>
            <a:endParaRPr lang="en-US" sz="1350" dirty="0"/>
          </a:p>
        </p:txBody>
      </p:sp>
      <p:sp>
        <p:nvSpPr>
          <p:cNvPr id="27" name="Text 22"/>
          <p:cNvSpPr/>
          <p:nvPr/>
        </p:nvSpPr>
        <p:spPr>
          <a:xfrm>
            <a:off x="786384" y="4590288"/>
            <a:ext cx="498348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structured data to train a smaller domain-specific model for cheaper inference.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>
            <a:off x="6172200" y="4041648"/>
            <a:ext cx="5440680" cy="1170432"/>
          </a:xfrm>
          <a:prstGeom prst="roundRect">
            <a:avLst>
              <a:gd name="adj" fmla="val 4688"/>
            </a:avLst>
          </a:prstGeom>
          <a:solidFill>
            <a:srgbClr val="F3F7FC"/>
          </a:solidFill>
          <a:ln w="12700">
            <a:solidFill>
              <a:srgbClr val="C7D5EC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6373368" y="4261104"/>
            <a:ext cx="146304" cy="146304"/>
          </a:xfrm>
          <a:prstGeom prst="ellipse">
            <a:avLst/>
          </a:prstGeom>
          <a:solidFill>
            <a:srgbClr val="3E6DB5"/>
          </a:solidFill>
          <a:ln/>
        </p:spPr>
      </p:sp>
      <p:sp>
        <p:nvSpPr>
          <p:cNvPr id="30" name="Text 25"/>
          <p:cNvSpPr/>
          <p:nvPr/>
        </p:nvSpPr>
        <p:spPr>
          <a:xfrm>
            <a:off x="6629400" y="4169664"/>
            <a:ext cx="4800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B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GA4 rollout</a:t>
            </a:r>
            <a:endParaRPr lang="en-US" sz="1350" dirty="0"/>
          </a:p>
        </p:txBody>
      </p:sp>
      <p:sp>
        <p:nvSpPr>
          <p:cNvPr id="31" name="Text 26"/>
          <p:cNvSpPr/>
          <p:nvPr/>
        </p:nvSpPr>
        <p:spPr>
          <a:xfrm>
            <a:off x="6409944" y="4590288"/>
            <a:ext cx="498348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intraday enhancement to bring latency toward the sub-4-hour target.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itle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8412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91440"/>
            <a:ext cx="10424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2300" dirty="0"/>
          </a:p>
        </p:txBody>
      </p:sp>
      <p:pic>
        <p:nvPicPr>
          <p:cNvPr id="4" name="Image 1" descr="footerb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55664"/>
            <a:ext cx="12191695" cy="40233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20040" y="6455664"/>
            <a:ext cx="5486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Computer Engineering</a:t>
            </a:r>
            <a:endParaRPr lang="en-US" sz="1050" dirty="0"/>
          </a:p>
        </p:txBody>
      </p:sp>
      <p:sp>
        <p:nvSpPr>
          <p:cNvPr id="6" name="Text 2"/>
          <p:cNvSpPr/>
          <p:nvPr/>
        </p:nvSpPr>
        <p:spPr>
          <a:xfrm>
            <a:off x="10637215" y="6455664"/>
            <a:ext cx="1234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30</a:t>
            </a:r>
            <a:endParaRPr lang="en-US" sz="1050" dirty="0"/>
          </a:p>
        </p:txBody>
      </p:sp>
      <p:pic>
        <p:nvPicPr>
          <p:cNvPr id="7" name="Image 2" descr="cres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8463" y="5852160"/>
            <a:ext cx="457200" cy="54864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31520" y="1371600"/>
            <a:ext cx="1069848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3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 Amazon Web Services — Amazon Textract Developer Guide</a:t>
            </a:r>
            <a:endParaRPr lang="en-US" sz="13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3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 Amazon Web Services — AWS Lambda Developer Guide</a:t>
            </a:r>
            <a:endParaRPr lang="en-US" sz="13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3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 Amazon Web Services — AWS Glue Developer Guide</a:t>
            </a:r>
            <a:endParaRPr lang="en-US" sz="13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3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 Amazon Web Services — AWS Serverless Application Model (SAM)</a:t>
            </a:r>
            <a:endParaRPr lang="en-US" sz="13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3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 Anthropic — Claude Models Documentation</a:t>
            </a:r>
            <a:endParaRPr lang="en-US" sz="13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3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 dltHub — dlt (Data Load Tool) Documentation</a:t>
            </a:r>
            <a:endParaRPr lang="en-US" sz="13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3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 DS4SD — Docling: Document Processing Library</a:t>
            </a:r>
            <a:endParaRPr lang="en-US" sz="13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3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 GitHub — GitHub Actions Documentation</a:t>
            </a:r>
            <a:endParaRPr lang="en-US" sz="13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3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  Apache Software Foundation — Apache Spark Documentation</a:t>
            </a:r>
            <a:endParaRPr lang="en-US" sz="13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3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[10]  SQLite Consortium — SQLite Documentation</a:t>
            </a:r>
            <a:endParaRPr lang="en-US" sz="13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35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[11]  D3 — Data-Driven Documents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731520" y="56692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sources; peer-reviewed literature for the OCR / VLM discussion to be finalised by the author.</a:t>
            </a:r>
            <a:endParaRPr lang="en-US" sz="11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05C"/>
          </a:solidFill>
          <a:ln/>
        </p:spPr>
      </p:sp>
      <p:pic>
        <p:nvPicPr>
          <p:cNvPr id="3" name="Image 0" descr="cr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28920" y="1371600"/>
            <a:ext cx="11430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88036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457200" y="38404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CF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457200" y="475488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Vansh Amit Jogani</a:t>
            </a:r>
            <a:endParaRPr lang="en-US" sz="16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F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220953126  ·  vanshjogani04@gmail.com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Computer Engineering · Manipal Institute of Technology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2026-07-01T20:39:50Z</dcterms:created>
  <dcterms:modified xsi:type="dcterms:W3CDTF">2026-07-01T20:39:50Z</dcterms:modified>
</cp:coreProperties>
</file>